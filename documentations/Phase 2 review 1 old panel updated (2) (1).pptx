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257" r:id="rId4"/>
    <p:sldId id="286" r:id="rId5"/>
    <p:sldId id="297" r:id="rId6"/>
    <p:sldId id="259" r:id="rId7"/>
    <p:sldId id="276" r:id="rId8"/>
    <p:sldId id="293" r:id="rId9"/>
    <p:sldId id="260" r:id="rId10"/>
    <p:sldId id="270" r:id="rId11"/>
    <p:sldId id="271" r:id="rId12"/>
    <p:sldId id="262" r:id="rId13"/>
    <p:sldId id="290" r:id="rId14"/>
    <p:sldId id="292" r:id="rId15"/>
    <p:sldId id="277" r:id="rId16"/>
    <p:sldId id="294" r:id="rId17"/>
    <p:sldId id="274" r:id="rId18"/>
    <p:sldId id="295" r:id="rId19"/>
    <p:sldId id="265" r:id="rId20"/>
    <p:sldId id="266" r:id="rId21"/>
    <p:sldId id="268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OFrX30HVd1VnoidpTPdEttX7f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FFA"/>
    <a:srgbClr val="ECDFE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A443E384-65BA-FBDE-A598-ED05951F3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6C56880E-7E8D-2391-6B57-E2BC315AA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66BC2767-6E46-CB19-CD26-367BE4F3AE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3:notes">
            <a:extLst>
              <a:ext uri="{FF2B5EF4-FFF2-40B4-BE49-F238E27FC236}">
                <a16:creationId xmlns:a16="http://schemas.microsoft.com/office/drawing/2014/main" id="{72BD6813-25B3-1706-6CFC-300EB35A33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2663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4A63F477-48C4-9F6D-23F8-37A20D94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7AD696CF-FA78-C67E-A0EF-A660A1EF7E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4" name="Google Shape;124;p3:notes">
            <a:extLst>
              <a:ext uri="{FF2B5EF4-FFF2-40B4-BE49-F238E27FC236}">
                <a16:creationId xmlns:a16="http://schemas.microsoft.com/office/drawing/2014/main" id="{F8203352-B3B1-071F-0A27-5B8593186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0" i="0" u="none" strike="noStrike" cap="none" dirty="0">
              <a:solidFill>
                <a:schemeClr val="tx1"/>
              </a:solidFill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25" name="Google Shape;125;p3:notes">
            <a:extLst>
              <a:ext uri="{FF2B5EF4-FFF2-40B4-BE49-F238E27FC236}">
                <a16:creationId xmlns:a16="http://schemas.microsoft.com/office/drawing/2014/main" id="{7C63C5FF-B904-774E-E49D-67CDC0E5EF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0769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D3EE0B8C-4F9C-C11B-688B-3D177FDC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>
            <a:extLst>
              <a:ext uri="{FF2B5EF4-FFF2-40B4-BE49-F238E27FC236}">
                <a16:creationId xmlns:a16="http://schemas.microsoft.com/office/drawing/2014/main" id="{86F561C0-15FA-5F29-ECF0-BC4F89621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35CEF02A-6F35-C238-DA13-CAD2172241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446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362D89FF-EA7D-BE48-2C15-69A6FEDB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>
            <a:extLst>
              <a:ext uri="{FF2B5EF4-FFF2-40B4-BE49-F238E27FC236}">
                <a16:creationId xmlns:a16="http://schemas.microsoft.com/office/drawing/2014/main" id="{5D21663D-84DE-03FF-7D35-02E92D8DB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59" name="Google Shape;159;p6:notes">
            <a:extLst>
              <a:ext uri="{FF2B5EF4-FFF2-40B4-BE49-F238E27FC236}">
                <a16:creationId xmlns:a16="http://schemas.microsoft.com/office/drawing/2014/main" id="{FFAE80C1-3484-3669-C4A0-0EA9D3B21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265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460CF8B1-8A71-EF1C-DC2E-629F577A9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EE9B0FB3-E685-C47D-2215-9DD0AE983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70" name="Google Shape;170;p7:notes">
            <a:extLst>
              <a:ext uri="{FF2B5EF4-FFF2-40B4-BE49-F238E27FC236}">
                <a16:creationId xmlns:a16="http://schemas.microsoft.com/office/drawing/2014/main" id="{29173EAE-4F2E-A5C1-1FF0-0D26E0170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469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395DE341-7969-FA3E-0F18-0ACFD3D0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>
            <a:extLst>
              <a:ext uri="{FF2B5EF4-FFF2-40B4-BE49-F238E27FC236}">
                <a16:creationId xmlns:a16="http://schemas.microsoft.com/office/drawing/2014/main" id="{1FE309CD-556C-02B6-291B-A0BA591A4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70" name="Google Shape;170;p7:notes">
            <a:extLst>
              <a:ext uri="{FF2B5EF4-FFF2-40B4-BE49-F238E27FC236}">
                <a16:creationId xmlns:a16="http://schemas.microsoft.com/office/drawing/2014/main" id="{6B8592DF-DB60-BA82-29E5-3F8B001612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568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7CC35308-1A75-DE37-DB8C-66548177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1ED6C363-B2EA-2A6E-134E-0FE8646F9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81" name="Google Shape;181;p8:notes">
            <a:extLst>
              <a:ext uri="{FF2B5EF4-FFF2-40B4-BE49-F238E27FC236}">
                <a16:creationId xmlns:a16="http://schemas.microsoft.com/office/drawing/2014/main" id="{B3232B32-E5BA-782C-E2B2-45655826E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776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5024E31C-A38E-BE3B-35BE-FEEC73D73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2A233312-2F8E-FA5F-19A8-C308F8185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81" name="Google Shape;181;p8:notes">
            <a:extLst>
              <a:ext uri="{FF2B5EF4-FFF2-40B4-BE49-F238E27FC236}">
                <a16:creationId xmlns:a16="http://schemas.microsoft.com/office/drawing/2014/main" id="{E8329576-9A85-C683-3BFB-D292F32766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359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581F83F0-674C-1B35-FCEA-37AF1B64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>
            <a:extLst>
              <a:ext uri="{FF2B5EF4-FFF2-40B4-BE49-F238E27FC236}">
                <a16:creationId xmlns:a16="http://schemas.microsoft.com/office/drawing/2014/main" id="{9A017471-E246-74AA-121A-B37B7F9670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81" name="Google Shape;181;p8:notes">
            <a:extLst>
              <a:ext uri="{FF2B5EF4-FFF2-40B4-BE49-F238E27FC236}">
                <a16:creationId xmlns:a16="http://schemas.microsoft.com/office/drawing/2014/main" id="{65BE08A5-4964-D2CC-4470-80D3B6D5A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622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68443d3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4" name="Google Shape;204;g3268443d32f_0_0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05" name="Google Shape;205;g3268443d32f_0_0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2" name="Google Shape;82;p22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3671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1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30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3" Type="http://schemas.openxmlformats.org/officeDocument/2006/relationships/image" Target="../media/image3.pn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sv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sv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Relationship Id="rId1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/>
          <p:nvPr/>
        </p:nvSpPr>
        <p:spPr>
          <a:xfrm>
            <a:off x="2387991" y="990600"/>
            <a:ext cx="79248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UE23CS320</a:t>
            </a: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Capstone Project Phase – 2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rebuchet MS"/>
              <a:buNone/>
            </a:pPr>
            <a:r>
              <a:rPr lang="en-US" sz="28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Review #1</a:t>
            </a:r>
            <a:endParaRPr sz="1800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46314" y="2743013"/>
            <a:ext cx="11375572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eaLnBrk="1"/>
            <a:r>
              <a:rPr lang="en-US" sz="2000" b="0" i="0" u="none" strike="noStrike" cap="none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lang="en-US" altLang="en-US" sz="200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/>
            <a:r>
              <a:rPr lang="en-US" sz="2000" dirty="0">
                <a:solidFill>
                  <a:srgbClr val="0033CC"/>
                </a:solidFill>
                <a:latin typeface="Trebuchet MS"/>
                <a:sym typeface="Trebuchet MS"/>
              </a:rPr>
              <a:t>Project ID       :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PW26_MG_02</a:t>
            </a:r>
            <a:r>
              <a:rPr lang="en-US" sz="2000" dirty="0">
                <a:solidFill>
                  <a:srgbClr val="0033CC"/>
                </a:solidFill>
                <a:latin typeface="Trebuchet MS"/>
                <a:sym typeface="Trebuchet MS"/>
              </a:rPr>
              <a:t>     </a:t>
            </a:r>
            <a:endParaRPr sz="20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lvl="0">
              <a:buClr>
                <a:srgbClr val="0033CC"/>
              </a:buClr>
              <a:buSzPts val="2400"/>
            </a:pPr>
            <a:r>
              <a:rPr lang="en-US" sz="2000" dirty="0">
                <a:solidFill>
                  <a:srgbClr val="0033CC"/>
                </a:solidFill>
                <a:latin typeface="Trebuchet MS"/>
                <a:sym typeface="Trebuchet MS"/>
              </a:rPr>
              <a:t>Project Guide :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Prof. Mahitha G</a:t>
            </a:r>
            <a:r>
              <a:rPr lang="en-US" sz="2000" dirty="0">
                <a:solidFill>
                  <a:srgbClr val="0033CC"/>
                </a:solidFill>
                <a:latin typeface="Trebuchet MS"/>
                <a:sym typeface="Trebuchet MS"/>
              </a:rPr>
              <a:t>                </a:t>
            </a:r>
            <a:endParaRPr sz="20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Trebuchet MS"/>
              <a:buNone/>
            </a:pPr>
            <a:r>
              <a:rPr lang="en-US" sz="2000" dirty="0">
                <a:solidFill>
                  <a:srgbClr val="0033CC"/>
                </a:solidFill>
                <a:latin typeface="Trebuchet MS"/>
                <a:sym typeface="Trebuchet MS"/>
              </a:rPr>
              <a:t>Project Team  : </a:t>
            </a:r>
            <a:endParaRPr sz="2000" dirty="0">
              <a:solidFill>
                <a:srgbClr val="0033CC"/>
              </a:solidFill>
              <a:latin typeface="Trebuchet MS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91CFD5-FA5D-7B98-5579-EDD0F0C5BB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706557"/>
              </p:ext>
            </p:extLst>
          </p:nvPr>
        </p:nvGraphicFramePr>
        <p:xfrm>
          <a:off x="2387991" y="3740248"/>
          <a:ext cx="8128000" cy="1585192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ADISHREE GUPTA</a:t>
                      </a:r>
                    </a:p>
                  </a:txBody>
                  <a:tcPr marL="45720" marR="45720" marT="45749" marB="45749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PES1UG23CS024</a:t>
                      </a:r>
                    </a:p>
                  </a:txBody>
                  <a:tcPr marL="45720" marR="45720" marT="45749" marB="45749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AKSHAT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0" marR="45720" marT="45749" marB="45749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PES1UG23CS048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0" marR="45720" marT="45749" marB="45749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BHAVANI S</a:t>
                      </a:r>
                    </a:p>
                  </a:txBody>
                  <a:tcPr marL="45720" marR="45720" marT="45749" marB="45749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PES1UG23CS144</a:t>
                      </a:r>
                    </a:p>
                  </a:txBody>
                  <a:tcPr marL="45720" marR="45720" marT="45749" marB="45749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1800"/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BHUMIKA S LOKARE</a:t>
                      </a:r>
                    </a:p>
                  </a:txBody>
                  <a:tcPr marL="45720" marR="45720" marT="45749" marB="45749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IN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PES1UG24CS803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45720" marR="45720" marT="45749" marB="45749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7DB8BDB4-6EC6-0D3E-CCAD-263B8FC3A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/>
          <p:nvPr/>
        </p:nvSpPr>
        <p:spPr>
          <a:xfrm rot="10800000" flipH="1">
            <a:off x="2397760" y="1682981"/>
            <a:ext cx="827024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2057400" y="1763485"/>
            <a:ext cx="80772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scope.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phase-1</a:t>
            </a: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chemeClr val="tx1"/>
                </a:solidFill>
                <a:latin typeface="Trebuchet MS"/>
                <a:ea typeface="Calibri"/>
                <a:cs typeface="Calibri"/>
                <a:sym typeface="Trebuchet MS"/>
              </a:rPr>
              <a:t>Literature survey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Approach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and Dependencies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methodology/Approach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Plan for Phase 2</a:t>
            </a:r>
            <a:endParaRPr sz="2400" b="0" i="0" u="none" strike="noStrike" cap="none" dirty="0">
              <a:solidFill>
                <a:schemeClr val="tx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91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Trebuchet MS"/>
                <a:ea typeface="Trebuchet MS"/>
                <a:cs typeface="Trebuchet MS"/>
                <a:sym typeface="Trebuchet MS"/>
              </a:rPr>
              <a:t>Any other Information</a:t>
            </a:r>
            <a:endParaRPr sz="18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191001" y="1243088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87085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>
            <a:spLocks noGrp="1"/>
          </p:cNvSpPr>
          <p:nvPr>
            <p:ph type="sldNum" idx="12"/>
          </p:nvPr>
        </p:nvSpPr>
        <p:spPr>
          <a:xfrm>
            <a:off x="9900458" y="6546870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6;p3">
            <a:extLst>
              <a:ext uri="{FF2B5EF4-FFF2-40B4-BE49-F238E27FC236}">
                <a16:creationId xmlns:a16="http://schemas.microsoft.com/office/drawing/2014/main" id="{1BAC099D-1517-252B-A096-F7CBCBA48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CA3AD-AD4B-989D-CCBD-8281D8D3E5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5" name="Shape 14">
            <a:extLst>
              <a:ext uri="{FF2B5EF4-FFF2-40B4-BE49-F238E27FC236}">
                <a16:creationId xmlns:a16="http://schemas.microsoft.com/office/drawing/2014/main" id="{D24109B6-78A8-4116-12ED-9F9FDF221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08650"/>
            <a:ext cx="12192000" cy="779463"/>
          </a:xfrm>
          <a:prstGeom prst="roundRect">
            <a:avLst>
              <a:gd name="adj" fmla="val 3532"/>
            </a:avLst>
          </a:prstGeom>
          <a:solidFill>
            <a:srgbClr val="325F7B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endParaRPr lang="en-US" altLang="en-US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A60E53CB-E93A-8DA3-1100-ACF853BCF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563" y="5937250"/>
            <a:ext cx="89820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>
              <a:lnSpc>
                <a:spcPts val="2300"/>
              </a:lnSpc>
            </a:pPr>
            <a:r>
              <a:rPr lang="en-US" altLang="en-US" b="1">
                <a:solidFill>
                  <a:srgbClr val="FFFFFF"/>
                </a:solidFill>
                <a:latin typeface="Roboto" panose="02000000000000000000" pitchFamily="2" charset="0"/>
                <a:sym typeface="Roboto" panose="02000000000000000000" pitchFamily="2" charset="0"/>
              </a:rPr>
              <a:t>The Opportunity:</a:t>
            </a:r>
            <a:r>
              <a:rPr lang="en-US" altLang="en-US">
                <a:solidFill>
                  <a:srgbClr val="FFFFFF"/>
                </a:solidFill>
                <a:latin typeface="Roboto" panose="02000000000000000000" pitchFamily="2" charset="0"/>
                <a:sym typeface="Roboto" panose="02000000000000000000" pitchFamily="2" charset="0"/>
              </a:rPr>
              <a:t> Develop a trustworthy, explainable  prediction platform that addresses these critical pain points.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1C3E246-AACA-9DA1-C72E-F25F64135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8" y="1612900"/>
            <a:ext cx="114268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>
              <a:lnSpc>
                <a:spcPts val="4500"/>
              </a:lnSpc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Building Trustworthy Stock Prediction: From Problem to Self-Aware AI Solution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85542-306A-CA11-4EDC-00E6AC08A9C2}"/>
              </a:ext>
            </a:extLst>
          </p:cNvPr>
          <p:cNvSpPr/>
          <p:nvPr/>
        </p:nvSpPr>
        <p:spPr>
          <a:xfrm>
            <a:off x="685800" y="2574925"/>
            <a:ext cx="8686800" cy="21701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Arial" charset="0"/>
              </a:rPr>
              <a:t>“Traditional quantitative models and modern AI for Financial Securities prediction are often rigid, opaque, and unaccountable. This project addresses these limitations by developing a self-aware, multimodal AI framework that dynamically adapts to real-time markets, provides explainable predictions, and ensures verifiable accountability through transparent data logging.”</a:t>
            </a:r>
            <a:endParaRPr lang="en-US" sz="1800" kern="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Google Shape;105;p4">
            <a:extLst>
              <a:ext uri="{FF2B5EF4-FFF2-40B4-BE49-F238E27FC236}">
                <a16:creationId xmlns:a16="http://schemas.microsoft.com/office/drawing/2014/main" id="{A907BF1A-1A88-E6A2-2069-185AA89D1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038" y="1143000"/>
            <a:ext cx="6384925" cy="461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>
            <a:spAutoFit/>
          </a:bodyPr>
          <a:lstStyle>
            <a:lvl1pPr marL="342900" indent="-3429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r>
              <a:rPr lang="en-US" altLang="en-US" sz="2400" dirty="0">
                <a:solidFill>
                  <a:schemeClr val="tx1"/>
                </a:solidFill>
                <a:latin typeface="Trebuchet MS" panose="020B0603020202020204" pitchFamily="34" charset="0"/>
                <a:sym typeface="Trebuchet MS" panose="020B0603020202020204" pitchFamily="34" charset="0"/>
              </a:rPr>
              <a:t>Problem Statement</a:t>
            </a:r>
          </a:p>
        </p:txBody>
      </p:sp>
      <p:sp>
        <p:nvSpPr>
          <p:cNvPr id="10" name="Google Shape;91;p3">
            <a:extLst>
              <a:ext uri="{FF2B5EF4-FFF2-40B4-BE49-F238E27FC236}">
                <a16:creationId xmlns:a16="http://schemas.microsoft.com/office/drawing/2014/main" id="{66AD2E6B-CFB0-E761-A6AA-1A4B02A4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0" y="1612900"/>
            <a:ext cx="7620000" cy="365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lIns="0" tIns="0" rIns="0" bIns="0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endParaRPr lang="en-US" altLang="en-US"/>
          </a:p>
        </p:txBody>
      </p:sp>
      <p:pic>
        <p:nvPicPr>
          <p:cNvPr id="11" name="Google Shape;142;p4">
            <a:extLst>
              <a:ext uri="{FF2B5EF4-FFF2-40B4-BE49-F238E27FC236}">
                <a16:creationId xmlns:a16="http://schemas.microsoft.com/office/drawing/2014/main" id="{09EE9445-9138-0D92-606E-6BAC2ECA4CE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1;p2">
            <a:extLst>
              <a:ext uri="{FF2B5EF4-FFF2-40B4-BE49-F238E27FC236}">
                <a16:creationId xmlns:a16="http://schemas.microsoft.com/office/drawing/2014/main" id="{1C4DC444-84E5-9656-D63A-1E80C4102616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96;p3">
            <a:extLst>
              <a:ext uri="{FF2B5EF4-FFF2-40B4-BE49-F238E27FC236}">
                <a16:creationId xmlns:a16="http://schemas.microsoft.com/office/drawing/2014/main" id="{C2AF0DC2-41E2-03B4-131F-CA0E7DE55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79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1F3DA51D-FD14-86FA-8759-FED4E49B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>
            <a:extLst>
              <a:ext uri="{FF2B5EF4-FFF2-40B4-BE49-F238E27FC236}">
                <a16:creationId xmlns:a16="http://schemas.microsoft.com/office/drawing/2014/main" id="{5A4A08AC-BDA7-06FE-CA9D-0F431F447A6A}"/>
              </a:ext>
            </a:extLst>
          </p:cNvPr>
          <p:cNvSpPr/>
          <p:nvPr/>
        </p:nvSpPr>
        <p:spPr>
          <a:xfrm>
            <a:off x="3163175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>
            <a:extLst>
              <a:ext uri="{FF2B5EF4-FFF2-40B4-BE49-F238E27FC236}">
                <a16:creationId xmlns:a16="http://schemas.microsoft.com/office/drawing/2014/main" id="{6D80EE62-7CEA-E0F9-2220-2B1156F323CB}"/>
              </a:ext>
            </a:extLst>
          </p:cNvPr>
          <p:cNvSpPr txBox="1"/>
          <p:nvPr/>
        </p:nvSpPr>
        <p:spPr>
          <a:xfrm>
            <a:off x="3017856" y="1143002"/>
            <a:ext cx="7620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">
            <a:extLst>
              <a:ext uri="{FF2B5EF4-FFF2-40B4-BE49-F238E27FC236}">
                <a16:creationId xmlns:a16="http://schemas.microsoft.com/office/drawing/2014/main" id="{5FDD7216-88B2-7788-F900-E7A934D41C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8007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>
            <a:extLst>
              <a:ext uri="{FF2B5EF4-FFF2-40B4-BE49-F238E27FC236}">
                <a16:creationId xmlns:a16="http://schemas.microsoft.com/office/drawing/2014/main" id="{EE492C1D-E794-5FA0-480A-2C4E6B3AEA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" name="Google Shape;121;p2">
            <a:extLst>
              <a:ext uri="{FF2B5EF4-FFF2-40B4-BE49-F238E27FC236}">
                <a16:creationId xmlns:a16="http://schemas.microsoft.com/office/drawing/2014/main" id="{D66EA613-C144-C9AC-2800-6248AABC2B11}"/>
              </a:ext>
            </a:extLst>
          </p:cNvPr>
          <p:cNvSpPr txBox="1"/>
          <p:nvPr/>
        </p:nvSpPr>
        <p:spPr>
          <a:xfrm>
            <a:off x="-283028" y="152296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96;p3">
            <a:extLst>
              <a:ext uri="{FF2B5EF4-FFF2-40B4-BE49-F238E27FC236}">
                <a16:creationId xmlns:a16="http://schemas.microsoft.com/office/drawing/2014/main" id="{1845ECCC-155C-AC69-807F-2A7B5217E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7" name="Text 1">
            <a:extLst>
              <a:ext uri="{FF2B5EF4-FFF2-40B4-BE49-F238E27FC236}">
                <a16:creationId xmlns:a16="http://schemas.microsoft.com/office/drawing/2014/main" id="{8C1CEDFD-FFB6-37BB-D1A8-E5BE8EC735C3}"/>
              </a:ext>
            </a:extLst>
          </p:cNvPr>
          <p:cNvSpPr/>
          <p:nvPr/>
        </p:nvSpPr>
        <p:spPr>
          <a:xfrm>
            <a:off x="872056" y="2427455"/>
            <a:ext cx="4875601" cy="64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work introduces a principled analytical framework for trustworthy stock prediction,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addressing the growing need for adaptive, explainable, and auditable AI systems 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 increasingly volatile and regulated financial markets.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2">
            <a:extLst>
              <a:ext uri="{FF2B5EF4-FFF2-40B4-BE49-F238E27FC236}">
                <a16:creationId xmlns:a16="http://schemas.microsoft.com/office/drawing/2014/main" id="{CEDE6A0B-AE7B-8B97-7725-F7D2CD4C1EF8}"/>
              </a:ext>
            </a:extLst>
          </p:cNvPr>
          <p:cNvSpPr/>
          <p:nvPr/>
        </p:nvSpPr>
        <p:spPr>
          <a:xfrm>
            <a:off x="872055" y="3230627"/>
            <a:ext cx="2291120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</a:t>
            </a:r>
            <a:endParaRPr lang="en-US" sz="1800" dirty="0"/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59B05C78-C684-3861-6767-6870E9987D04}"/>
              </a:ext>
            </a:extLst>
          </p:cNvPr>
          <p:cNvSpPr/>
          <p:nvPr/>
        </p:nvSpPr>
        <p:spPr>
          <a:xfrm>
            <a:off x="913014" y="3682878"/>
            <a:ext cx="2826306" cy="1325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market volatility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demand for explainability and audit trails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distrust of opaque AI and data sources</a:t>
            </a:r>
            <a:endParaRPr lang="en-US" sz="1400" dirty="0"/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3DD2D745-25C1-4941-9882-4BE11B77A886}"/>
              </a:ext>
            </a:extLst>
          </p:cNvPr>
          <p:cNvSpPr/>
          <p:nvPr/>
        </p:nvSpPr>
        <p:spPr>
          <a:xfrm>
            <a:off x="913014" y="5191953"/>
            <a:ext cx="2826306" cy="53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Drives competitive reallocation</a:t>
            </a:r>
            <a:endParaRPr lang="en-US" sz="1400" dirty="0"/>
          </a:p>
        </p:txBody>
      </p:sp>
      <p:pic>
        <p:nvPicPr>
          <p:cNvPr id="71" name="Image 0" descr="preencoded.png">
            <a:extLst>
              <a:ext uri="{FF2B5EF4-FFF2-40B4-BE49-F238E27FC236}">
                <a16:creationId xmlns:a16="http://schemas.microsoft.com/office/drawing/2014/main" id="{C7A94374-017B-F8D7-174A-D91D275FA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425" y="2164288"/>
            <a:ext cx="7041321" cy="3524104"/>
          </a:xfrm>
          <a:prstGeom prst="rect">
            <a:avLst/>
          </a:prstGeom>
        </p:spPr>
      </p:pic>
      <p:sp>
        <p:nvSpPr>
          <p:cNvPr id="72" name="Text 5">
            <a:extLst>
              <a:ext uri="{FF2B5EF4-FFF2-40B4-BE49-F238E27FC236}">
                <a16:creationId xmlns:a16="http://schemas.microsoft.com/office/drawing/2014/main" id="{2F09FA6F-1513-F5CD-60D6-73B7295E59F8}"/>
              </a:ext>
            </a:extLst>
          </p:cNvPr>
          <p:cNvSpPr/>
          <p:nvPr/>
        </p:nvSpPr>
        <p:spPr>
          <a:xfrm>
            <a:off x="4846387" y="3554940"/>
            <a:ext cx="1760408" cy="526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Competitive Advantage</a:t>
            </a:r>
            <a:endParaRPr lang="en-US" sz="1350" dirty="0"/>
          </a:p>
        </p:txBody>
      </p:sp>
      <p:sp>
        <p:nvSpPr>
          <p:cNvPr id="73" name="Text 6">
            <a:extLst>
              <a:ext uri="{FF2B5EF4-FFF2-40B4-BE49-F238E27FC236}">
                <a16:creationId xmlns:a16="http://schemas.microsoft.com/office/drawing/2014/main" id="{C31CDB49-80B5-BB21-B8BB-446123EBFA02}"/>
              </a:ext>
            </a:extLst>
          </p:cNvPr>
          <p:cNvSpPr/>
          <p:nvPr/>
        </p:nvSpPr>
        <p:spPr>
          <a:xfrm>
            <a:off x="7310763" y="5353703"/>
            <a:ext cx="2106870" cy="26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Market Growth</a:t>
            </a:r>
            <a:endParaRPr lang="en-US" sz="1350" dirty="0"/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850965A8-612E-292E-893A-772A0B8E4D0D}"/>
              </a:ext>
            </a:extLst>
          </p:cNvPr>
          <p:cNvSpPr/>
          <p:nvPr/>
        </p:nvSpPr>
        <p:spPr>
          <a:xfrm>
            <a:off x="10111218" y="3554940"/>
            <a:ext cx="1760408" cy="790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Competitive Advantage</a:t>
            </a:r>
            <a:endParaRPr lang="en-US" sz="1350" dirty="0"/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C0FF0DF5-7261-0FC1-EA57-E3B107B5B41F}"/>
              </a:ext>
            </a:extLst>
          </p:cNvPr>
          <p:cNvSpPr/>
          <p:nvPr/>
        </p:nvSpPr>
        <p:spPr>
          <a:xfrm>
            <a:off x="7254534" y="2295131"/>
            <a:ext cx="2106871" cy="26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Market Growth</a:t>
            </a:r>
            <a:endParaRPr lang="en-US" sz="1350" dirty="0"/>
          </a:p>
        </p:txBody>
      </p:sp>
      <p:sp>
        <p:nvSpPr>
          <p:cNvPr id="76" name="Text 9">
            <a:extLst>
              <a:ext uri="{FF2B5EF4-FFF2-40B4-BE49-F238E27FC236}">
                <a16:creationId xmlns:a16="http://schemas.microsoft.com/office/drawing/2014/main" id="{6567A340-21E6-5402-8A04-95FE11E76A35}"/>
              </a:ext>
            </a:extLst>
          </p:cNvPr>
          <p:cNvSpPr/>
          <p:nvPr/>
        </p:nvSpPr>
        <p:spPr>
          <a:xfrm>
            <a:off x="6500743" y="4571339"/>
            <a:ext cx="1807227" cy="38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quantitative models</a:t>
            </a:r>
            <a:endParaRPr lang="en-US" sz="1050" dirty="0"/>
          </a:p>
        </p:txBody>
      </p:sp>
      <p:pic>
        <p:nvPicPr>
          <p:cNvPr id="77" name="Image 1" descr="preencoded.png">
            <a:extLst>
              <a:ext uri="{FF2B5EF4-FFF2-40B4-BE49-F238E27FC236}">
                <a16:creationId xmlns:a16="http://schemas.microsoft.com/office/drawing/2014/main" id="{94CAFABD-85A7-68CD-0955-FA6757ECBA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1651" y="4139558"/>
            <a:ext cx="262189" cy="262189"/>
          </a:xfrm>
          <a:prstGeom prst="rect">
            <a:avLst/>
          </a:prstGeom>
        </p:spPr>
      </p:pic>
      <p:sp>
        <p:nvSpPr>
          <p:cNvPr id="78" name="Text 10">
            <a:extLst>
              <a:ext uri="{FF2B5EF4-FFF2-40B4-BE49-F238E27FC236}">
                <a16:creationId xmlns:a16="http://schemas.microsoft.com/office/drawing/2014/main" id="{C88F0DB8-2EA0-2454-E9F5-E0805BC41C78}"/>
              </a:ext>
            </a:extLst>
          </p:cNvPr>
          <p:cNvSpPr/>
          <p:nvPr/>
        </p:nvSpPr>
        <p:spPr>
          <a:xfrm>
            <a:off x="8459633" y="4541430"/>
            <a:ext cx="1807228" cy="38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Opaque legacy data providers</a:t>
            </a:r>
            <a:endParaRPr lang="en-US" sz="1050" dirty="0"/>
          </a:p>
        </p:txBody>
      </p:sp>
      <p:pic>
        <p:nvPicPr>
          <p:cNvPr id="79" name="Image 2" descr="preencoded.png">
            <a:extLst>
              <a:ext uri="{FF2B5EF4-FFF2-40B4-BE49-F238E27FC236}">
                <a16:creationId xmlns:a16="http://schemas.microsoft.com/office/drawing/2014/main" id="{7C241C14-706C-65DD-59A4-097C4BB173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85093" y="4135073"/>
            <a:ext cx="262189" cy="262188"/>
          </a:xfrm>
          <a:prstGeom prst="rect">
            <a:avLst/>
          </a:prstGeom>
        </p:spPr>
      </p:pic>
      <p:sp>
        <p:nvSpPr>
          <p:cNvPr id="80" name="Text 11">
            <a:extLst>
              <a:ext uri="{FF2B5EF4-FFF2-40B4-BE49-F238E27FC236}">
                <a16:creationId xmlns:a16="http://schemas.microsoft.com/office/drawing/2014/main" id="{0A98745E-CF17-C37A-9500-583805458C03}"/>
              </a:ext>
            </a:extLst>
          </p:cNvPr>
          <p:cNvSpPr/>
          <p:nvPr/>
        </p:nvSpPr>
        <p:spPr>
          <a:xfrm>
            <a:off x="8214054" y="3271425"/>
            <a:ext cx="2204266" cy="38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Adaptive, explainable, </a:t>
            </a:r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audit-grade AI</a:t>
            </a:r>
            <a:endParaRPr lang="en-US" sz="1050" dirty="0"/>
          </a:p>
        </p:txBody>
      </p:sp>
      <p:pic>
        <p:nvPicPr>
          <p:cNvPr id="81" name="Image 3" descr="preencoded.png">
            <a:extLst>
              <a:ext uri="{FF2B5EF4-FFF2-40B4-BE49-F238E27FC236}">
                <a16:creationId xmlns:a16="http://schemas.microsoft.com/office/drawing/2014/main" id="{4F061831-9B8D-D19B-602C-BD13871F46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85093" y="2867644"/>
            <a:ext cx="262189" cy="262188"/>
          </a:xfrm>
          <a:prstGeom prst="rect">
            <a:avLst/>
          </a:prstGeom>
        </p:spPr>
      </p:pic>
      <p:sp>
        <p:nvSpPr>
          <p:cNvPr id="82" name="Text 12">
            <a:extLst>
              <a:ext uri="{FF2B5EF4-FFF2-40B4-BE49-F238E27FC236}">
                <a16:creationId xmlns:a16="http://schemas.microsoft.com/office/drawing/2014/main" id="{EA1BFE81-EBE5-665D-ABF7-2CB54DBE09FB}"/>
              </a:ext>
            </a:extLst>
          </p:cNvPr>
          <p:cNvSpPr/>
          <p:nvPr/>
        </p:nvSpPr>
        <p:spPr>
          <a:xfrm>
            <a:off x="6507858" y="3311237"/>
            <a:ext cx="1807227" cy="190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Opaque AI models</a:t>
            </a:r>
            <a:endParaRPr lang="en-US" sz="1050" dirty="0"/>
          </a:p>
        </p:txBody>
      </p:sp>
      <p:pic>
        <p:nvPicPr>
          <p:cNvPr id="83" name="Image 4" descr="preencoded.png">
            <a:extLst>
              <a:ext uri="{FF2B5EF4-FFF2-40B4-BE49-F238E27FC236}">
                <a16:creationId xmlns:a16="http://schemas.microsoft.com/office/drawing/2014/main" id="{A6599082-553B-DAD7-C81B-6C51652001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71650" y="2838873"/>
            <a:ext cx="262189" cy="262188"/>
          </a:xfrm>
          <a:prstGeom prst="rect">
            <a:avLst/>
          </a:prstGeom>
        </p:spPr>
      </p:pic>
      <p:sp>
        <p:nvSpPr>
          <p:cNvPr id="84" name="Text 13">
            <a:extLst>
              <a:ext uri="{FF2B5EF4-FFF2-40B4-BE49-F238E27FC236}">
                <a16:creationId xmlns:a16="http://schemas.microsoft.com/office/drawing/2014/main" id="{331AD26E-31EF-803C-2754-D89ACAD855FF}"/>
              </a:ext>
            </a:extLst>
          </p:cNvPr>
          <p:cNvSpPr/>
          <p:nvPr/>
        </p:nvSpPr>
        <p:spPr>
          <a:xfrm>
            <a:off x="-95226" y="5869795"/>
            <a:ext cx="12647057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Analytical focus: Evaluation of long-term value creation potential in financial modeling systems combining adaptability, explainability, and regulatory-grade accountability.</a:t>
            </a:r>
            <a:endParaRPr lang="en-US" sz="11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 2">
            <a:extLst>
              <a:ext uri="{FF2B5EF4-FFF2-40B4-BE49-F238E27FC236}">
                <a16:creationId xmlns:a16="http://schemas.microsoft.com/office/drawing/2014/main" id="{0C8DFFA8-17A9-7759-830C-31CDDC6F4ABF}"/>
              </a:ext>
            </a:extLst>
          </p:cNvPr>
          <p:cNvSpPr/>
          <p:nvPr/>
        </p:nvSpPr>
        <p:spPr>
          <a:xfrm>
            <a:off x="872055" y="2017543"/>
            <a:ext cx="2291120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Abstract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5582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Suggestions from Phase1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F585E946-F2E9-68CA-14FC-EEFB025C9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79" y="2094631"/>
            <a:ext cx="605433" cy="1035368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5A58CA77-63FD-C980-88DC-318CDD2D5DE6}"/>
              </a:ext>
            </a:extLst>
          </p:cNvPr>
          <p:cNvSpPr/>
          <p:nvPr/>
        </p:nvSpPr>
        <p:spPr>
          <a:xfrm>
            <a:off x="1315284" y="2215718"/>
            <a:ext cx="1513761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Feedback Received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EA98979-9787-6D28-51D8-5C9C5D2CDB81}"/>
              </a:ext>
            </a:extLst>
          </p:cNvPr>
          <p:cNvSpPr/>
          <p:nvPr/>
        </p:nvSpPr>
        <p:spPr>
          <a:xfrm>
            <a:off x="1315284" y="2455629"/>
            <a:ext cx="7242929" cy="1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Enhance architectural clarity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2DA05CC-CA5D-49CC-4DA5-B6F9F7BDFA9F}"/>
              </a:ext>
            </a:extLst>
          </p:cNvPr>
          <p:cNvSpPr/>
          <p:nvPr/>
        </p:nvSpPr>
        <p:spPr>
          <a:xfrm>
            <a:off x="1315284" y="2649939"/>
            <a:ext cx="7242929" cy="1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Demonstrate implementation feasibility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3FE794B-EA24-6288-2DD2-3DEB5ED4C4F0}"/>
              </a:ext>
            </a:extLst>
          </p:cNvPr>
          <p:cNvSpPr/>
          <p:nvPr/>
        </p:nvSpPr>
        <p:spPr>
          <a:xfrm>
            <a:off x="1315284" y="2844249"/>
            <a:ext cx="7242929" cy="1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Improve module separation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88140B0F-C21C-8D19-7C2B-7CF205269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79" y="3336478"/>
            <a:ext cx="605433" cy="1035368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105805AB-34F9-19F4-B13C-F47906435237}"/>
              </a:ext>
            </a:extLst>
          </p:cNvPr>
          <p:cNvSpPr/>
          <p:nvPr/>
        </p:nvSpPr>
        <p:spPr>
          <a:xfrm>
            <a:off x="1315284" y="3457564"/>
            <a:ext cx="1513761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Actions Implemented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53DCD40-9D33-EB2B-6982-698914CE2EC1}"/>
              </a:ext>
            </a:extLst>
          </p:cNvPr>
          <p:cNvSpPr/>
          <p:nvPr/>
        </p:nvSpPr>
        <p:spPr>
          <a:xfrm>
            <a:off x="1315284" y="3697475"/>
            <a:ext cx="7242929" cy="1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2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User interface designed to reflect real-world trading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C2949C7-326E-B137-D086-59E1CC9ED3CA}"/>
              </a:ext>
            </a:extLst>
          </p:cNvPr>
          <p:cNvSpPr/>
          <p:nvPr/>
        </p:nvSpPr>
        <p:spPr>
          <a:xfrm>
            <a:off x="1315284" y="3891785"/>
            <a:ext cx="7242929" cy="1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2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Core user workflows visualized through UML diagrams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8395DDD-B8A2-6A85-F940-9F8795014DCA}"/>
              </a:ext>
            </a:extLst>
          </p:cNvPr>
          <p:cNvSpPr/>
          <p:nvPr/>
        </p:nvSpPr>
        <p:spPr>
          <a:xfrm>
            <a:off x="1315284" y="4086095"/>
            <a:ext cx="7242929" cy="1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2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Frontend prototype developed to validate system feasibility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E195248B-8FEE-A163-6094-AB61E8832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079" y="4637315"/>
            <a:ext cx="605433" cy="1035368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B18C4582-4C3A-DAFF-C786-DF5428BC1629}"/>
              </a:ext>
            </a:extLst>
          </p:cNvPr>
          <p:cNvSpPr/>
          <p:nvPr/>
        </p:nvSpPr>
        <p:spPr>
          <a:xfrm>
            <a:off x="1315284" y="4758402"/>
            <a:ext cx="169973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Improvements Achieved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0C68970-A973-ABEA-A556-231A8146A2F7}"/>
              </a:ext>
            </a:extLst>
          </p:cNvPr>
          <p:cNvSpPr/>
          <p:nvPr/>
        </p:nvSpPr>
        <p:spPr>
          <a:xfrm>
            <a:off x="1315284" y="4998313"/>
            <a:ext cx="7242929" cy="1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Clear component boundaries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87D1D96-CB1C-2EE6-BE02-BA7DF0C2085F}"/>
              </a:ext>
            </a:extLst>
          </p:cNvPr>
          <p:cNvSpPr/>
          <p:nvPr/>
        </p:nvSpPr>
        <p:spPr>
          <a:xfrm>
            <a:off x="1315284" y="5192623"/>
            <a:ext cx="7242929" cy="1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2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Enhanced visualization of market data using interactive charts and indicators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BF19A5-CE03-DB6E-448A-8A5EA146F591}"/>
              </a:ext>
            </a:extLst>
          </p:cNvPr>
          <p:cNvSpPr/>
          <p:nvPr/>
        </p:nvSpPr>
        <p:spPr>
          <a:xfrm>
            <a:off x="1315284" y="5386933"/>
            <a:ext cx="7242929" cy="1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250"/>
              </a:lnSpc>
              <a:buSzPct val="100000"/>
              <a:buChar char="•"/>
            </a:pPr>
            <a:r>
              <a:rPr lang="en-US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Better alignment of system design with real-world trading platforms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121;p2">
            <a:extLst>
              <a:ext uri="{FF2B5EF4-FFF2-40B4-BE49-F238E27FC236}">
                <a16:creationId xmlns:a16="http://schemas.microsoft.com/office/drawing/2014/main" id="{4DB99903-252B-4398-C44A-7990BB35DB73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96;p3">
            <a:extLst>
              <a:ext uri="{FF2B5EF4-FFF2-40B4-BE49-F238E27FC236}">
                <a16:creationId xmlns:a16="http://schemas.microsoft.com/office/drawing/2014/main" id="{23649D19-23AD-DBD7-030A-0972394EB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A87FFF5-2AA8-E4D6-A945-D41F2A803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0462" y="1702403"/>
            <a:ext cx="3657600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0B09C1B-5A26-3E01-F706-7EA8C17F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>
            <a:extLst>
              <a:ext uri="{FF2B5EF4-FFF2-40B4-BE49-F238E27FC236}">
                <a16:creationId xmlns:a16="http://schemas.microsoft.com/office/drawing/2014/main" id="{66022CD5-4671-8186-2EAC-C150D10EF3A3}"/>
              </a:ext>
            </a:extLst>
          </p:cNvPr>
          <p:cNvSpPr/>
          <p:nvPr/>
        </p:nvSpPr>
        <p:spPr>
          <a:xfrm>
            <a:off x="3048000" y="140417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>
            <a:extLst>
              <a:ext uri="{FF2B5EF4-FFF2-40B4-BE49-F238E27FC236}">
                <a16:creationId xmlns:a16="http://schemas.microsoft.com/office/drawing/2014/main" id="{E2ED03B1-ABCF-649E-5F52-AF008B3003A0}"/>
              </a:ext>
            </a:extLst>
          </p:cNvPr>
          <p:cNvSpPr txBox="1"/>
          <p:nvPr/>
        </p:nvSpPr>
        <p:spPr>
          <a:xfrm>
            <a:off x="3048000" y="1015182"/>
            <a:ext cx="7620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Calibri"/>
                <a:cs typeface="Calibri"/>
                <a:sym typeface="Trebuchet MS"/>
              </a:rPr>
              <a:t>Literature Survey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">
            <a:extLst>
              <a:ext uri="{FF2B5EF4-FFF2-40B4-BE49-F238E27FC236}">
                <a16:creationId xmlns:a16="http://schemas.microsoft.com/office/drawing/2014/main" id="{32C0850C-35FD-8BE6-7850-341B649202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>
            <a:extLst>
              <a:ext uri="{FF2B5EF4-FFF2-40B4-BE49-F238E27FC236}">
                <a16:creationId xmlns:a16="http://schemas.microsoft.com/office/drawing/2014/main" id="{E9417F36-DF9F-DEC9-8A0B-8F1E6A5ED6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DD8EA6-D105-955F-4C8E-501A57525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482706"/>
              </p:ext>
            </p:extLst>
          </p:nvPr>
        </p:nvGraphicFramePr>
        <p:xfrm>
          <a:off x="24674" y="1476806"/>
          <a:ext cx="12017476" cy="4109856"/>
        </p:xfrm>
        <a:graphic>
          <a:graphicData uri="http://schemas.openxmlformats.org/drawingml/2006/table">
            <a:tbl>
              <a:tblPr/>
              <a:tblGrid>
                <a:gridCol w="2656395">
                  <a:extLst>
                    <a:ext uri="{9D8B030D-6E8A-4147-A177-3AD203B41FA5}">
                      <a16:colId xmlns:a16="http://schemas.microsoft.com/office/drawing/2014/main" val="2930713079"/>
                    </a:ext>
                  </a:extLst>
                </a:gridCol>
                <a:gridCol w="1693621">
                  <a:extLst>
                    <a:ext uri="{9D8B030D-6E8A-4147-A177-3AD203B41FA5}">
                      <a16:colId xmlns:a16="http://schemas.microsoft.com/office/drawing/2014/main" val="2882289855"/>
                    </a:ext>
                  </a:extLst>
                </a:gridCol>
                <a:gridCol w="2695078">
                  <a:extLst>
                    <a:ext uri="{9D8B030D-6E8A-4147-A177-3AD203B41FA5}">
                      <a16:colId xmlns:a16="http://schemas.microsoft.com/office/drawing/2014/main" val="519368024"/>
                    </a:ext>
                  </a:extLst>
                </a:gridCol>
                <a:gridCol w="2486191">
                  <a:extLst>
                    <a:ext uri="{9D8B030D-6E8A-4147-A177-3AD203B41FA5}">
                      <a16:colId xmlns:a16="http://schemas.microsoft.com/office/drawing/2014/main" val="2013685639"/>
                    </a:ext>
                  </a:extLst>
                </a:gridCol>
                <a:gridCol w="2486191">
                  <a:extLst>
                    <a:ext uri="{9D8B030D-6E8A-4147-A177-3AD203B41FA5}">
                      <a16:colId xmlns:a16="http://schemas.microsoft.com/office/drawing/2014/main" val="3381615607"/>
                    </a:ext>
                  </a:extLst>
                </a:gridCol>
              </a:tblGrid>
              <a:tr h="14469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Paper Details</a:t>
                      </a:r>
                      <a:endParaRPr lang="en-IN" sz="105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Aim of the paper ( In One Line)</a:t>
                      </a:r>
                      <a:endParaRPr 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Method</a:t>
                      </a:r>
                      <a:endParaRPr lang="en-IN" sz="105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Limitations of the paper</a:t>
                      </a:r>
                      <a:endParaRPr lang="en-IN" sz="105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05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 to Project Hypothesis</a:t>
                      </a:r>
                      <a:endParaRPr lang="en-IN" sz="105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34" marR="3934" marT="39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81904"/>
                  </a:ext>
                </a:extLst>
              </a:tr>
              <a:tr h="67596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FinRL: Adaptive Model Selection for Reinforcement Learning in Stock Trading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Link: https://ieeexplore.ieee.org/document/11038809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 2025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Create market-adaptive trading system selecting models based on bull/bear market trends.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FinRL-DeepSeek using dynamic RL agents and LLM sentiment for market-specific trading</a:t>
                      </a:r>
                      <a:endParaRPr lang="en-IN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High computational costs, latency in switching, and dependency on real-time news data.</a:t>
                      </a:r>
                      <a:endParaRPr lang="en-IN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dirty="0"/>
                        <a:t>Supports</a:t>
                      </a:r>
                      <a:r>
                        <a:rPr lang="en-US" sz="1050" dirty="0"/>
                        <a:t> — Demonstrates adaptive model selection aligned with dynamic, explainable decision systems</a:t>
                      </a:r>
                      <a:endParaRPr lang="en-IN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714358"/>
                  </a:ext>
                </a:extLst>
              </a:tr>
              <a:tr h="7128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Novel RMS-Driven Deep Reinforcement Learning for Optimized Portfolio Management in Stock Trading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Link: https://ieeexplore.ieee.org/document/10904473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 2025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Optimize portfolio management using multi-source signals and risk-aware reward functions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A2C, DDPG, and PPO agents using historical data, technical indicators, and sentiment.</a:t>
                      </a:r>
                      <a:endParaRPr lang="en-IN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Limited market testing, lacks real-time validation, and relies on daily data.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dirty="0"/>
                        <a:t>Supports</a:t>
                      </a:r>
                      <a:r>
                        <a:rPr lang="en-US" sz="1050" dirty="0"/>
                        <a:t> — Shows adaptability and risk-awareness but limited explainability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212143"/>
                  </a:ext>
                </a:extLst>
              </a:tr>
              <a:tr h="81046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Magic Net: Memory-Aware Graph Interactive Causal Network for Multivariate Stock Price Movement Prediction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Link: https://ieeexplore.ieee.org/document/10834555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+A5Year 2025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Predict multivariate movements using causal correlations and temporal text memory.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Graph interactive causal network incorporating text memory and hierarchical dependencies</a:t>
                      </a:r>
                      <a:endParaRPr lang="en-IN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High computational complexity and scalability issues with large numbers of stocks.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dirty="0"/>
                        <a:t>Strongly Supports</a:t>
                      </a:r>
                      <a:r>
                        <a:rPr lang="en-US" sz="1050" dirty="0"/>
                        <a:t> — Introduces causal reasoning and interpretability beyond black-box prediction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699547"/>
                  </a:ext>
                </a:extLst>
              </a:tr>
              <a:tr h="72976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Stock Market Analysis and Price Prediction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Link: https://ieeexplore.ieee.org/document/11031782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 2025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Enhance forecasting accuracy by integrating fundamental, technical, and deep learning methods.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Hybrid framework combining Logistic Regression, KNN, and LSTM for layered predictions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High training complexity and significant dependency on data quality and tuning.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dirty="0"/>
                        <a:t>Alternative Hypothesis</a:t>
                      </a:r>
                      <a:r>
                        <a:rPr lang="en-US" sz="1050" dirty="0"/>
                        <a:t> — Focuses on accuracy-driven hybrid models with limited explainability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799923"/>
                  </a:ext>
                </a:extLst>
              </a:tr>
              <a:tr h="54146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Portfolio Research Based on LSTM Model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Link: https://ieeexplore.ieee.org/document/11075488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 2025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Predict CSI 300 prices and construct portfolios using LSTM neural networks.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LSTM neural network trained on historical price data for top index constituents.</a:t>
                      </a:r>
                      <a:endParaRPr lang="en-IN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dirty="0"/>
                        <a:t>Restricted scope to top 10 stocks and lacks external sentiment factors.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1" dirty="0"/>
                        <a:t>Alternative Hypothesis</a:t>
                      </a:r>
                      <a:r>
                        <a:rPr lang="en-US" sz="1050" dirty="0"/>
                        <a:t> — Emphasizes predictive performance over transparency and uncertainty handling</a:t>
                      </a:r>
                      <a:endParaRPr 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4" marR="3934" marT="39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1328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A9688FA-1479-42B4-A811-746D906F8F71}"/>
              </a:ext>
            </a:extLst>
          </p:cNvPr>
          <p:cNvSpPr txBox="1"/>
          <p:nvPr/>
        </p:nvSpPr>
        <p:spPr>
          <a:xfrm>
            <a:off x="0" y="5799372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Overall, the literature indicates that while accuracy-driven and hybrid prediction models perform well under stable conditions, adaptive and explainability-first approaches provide stronger robustness, trust, and decision reliability in volatile market environments, which directly motivates the proposed system.</a:t>
            </a:r>
            <a:endParaRPr lang="en-IN" dirty="0"/>
          </a:p>
        </p:txBody>
      </p:sp>
      <p:sp>
        <p:nvSpPr>
          <p:cNvPr id="2" name="Google Shape;121;p2">
            <a:extLst>
              <a:ext uri="{FF2B5EF4-FFF2-40B4-BE49-F238E27FC236}">
                <a16:creationId xmlns:a16="http://schemas.microsoft.com/office/drawing/2014/main" id="{5C16BE99-FB39-CEF7-F0AC-75F920C2D9CA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BD2B3EB8-8F5E-0322-E490-CD8103875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2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C9982-84B8-5834-D790-DF5273BC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166E0-9313-6925-3DEE-93B42E55F3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15" name="Google Shape;139;p4">
            <a:extLst>
              <a:ext uri="{FF2B5EF4-FFF2-40B4-BE49-F238E27FC236}">
                <a16:creationId xmlns:a16="http://schemas.microsoft.com/office/drawing/2014/main" id="{F2763716-CCB0-2B3D-09A3-7AB3C4634156}"/>
              </a:ext>
            </a:extLst>
          </p:cNvPr>
          <p:cNvSpPr/>
          <p:nvPr/>
        </p:nvSpPr>
        <p:spPr>
          <a:xfrm>
            <a:off x="3276600" y="1501298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582FC5-F658-750C-7658-5490F5187E51}"/>
              </a:ext>
            </a:extLst>
          </p:cNvPr>
          <p:cNvSpPr txBox="1"/>
          <p:nvPr/>
        </p:nvSpPr>
        <p:spPr>
          <a:xfrm>
            <a:off x="4071257" y="1040099"/>
            <a:ext cx="6825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Trebuchet MS" panose="020B0603020202020204" pitchFamily="34" charset="0"/>
              </a:rPr>
              <a:t>Challenges and Research Gaps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pic>
        <p:nvPicPr>
          <p:cNvPr id="17" name="Google Shape;130;p3">
            <a:extLst>
              <a:ext uri="{FF2B5EF4-FFF2-40B4-BE49-F238E27FC236}">
                <a16:creationId xmlns:a16="http://schemas.microsoft.com/office/drawing/2014/main" id="{9D468251-B3A6-04A3-752F-6396466B995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21;p2">
            <a:extLst>
              <a:ext uri="{FF2B5EF4-FFF2-40B4-BE49-F238E27FC236}">
                <a16:creationId xmlns:a16="http://schemas.microsoft.com/office/drawing/2014/main" id="{0B8352B0-1004-2525-7FC0-7D9EF2E60085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96;p3">
            <a:extLst>
              <a:ext uri="{FF2B5EF4-FFF2-40B4-BE49-F238E27FC236}">
                <a16:creationId xmlns:a16="http://schemas.microsoft.com/office/drawing/2014/main" id="{4FD3B349-DAC6-B112-97C7-90DD925A1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F436482-A552-2366-19FF-C9B2CB8327D1}"/>
              </a:ext>
            </a:extLst>
          </p:cNvPr>
          <p:cNvSpPr/>
          <p:nvPr/>
        </p:nvSpPr>
        <p:spPr>
          <a:xfrm>
            <a:off x="33162" y="1803068"/>
            <a:ext cx="3188970" cy="3784402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2F952FC-2600-FEEA-AB0A-B681456A703D}"/>
              </a:ext>
            </a:extLst>
          </p:cNvPr>
          <p:cNvSpPr/>
          <p:nvPr/>
        </p:nvSpPr>
        <p:spPr>
          <a:xfrm>
            <a:off x="10302" y="1803068"/>
            <a:ext cx="91440" cy="3784402"/>
          </a:xfrm>
          <a:prstGeom prst="roundRect">
            <a:avLst>
              <a:gd name="adj" fmla="val 273623"/>
            </a:avLst>
          </a:prstGeom>
          <a:solidFill>
            <a:srgbClr val="C7A2AC"/>
          </a:solidFill>
          <a:ln/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D292CE8-273E-8D2B-FABD-50EEEEBDD97E}"/>
              </a:ext>
            </a:extLst>
          </p:cNvPr>
          <p:cNvSpPr/>
          <p:nvPr/>
        </p:nvSpPr>
        <p:spPr>
          <a:xfrm>
            <a:off x="291290" y="1992615"/>
            <a:ext cx="2741295" cy="749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Dataset &amp; Data Provenance Gaps</a:t>
            </a:r>
            <a:endParaRPr lang="en-US" sz="235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DCB7FC8-337C-F876-B9CE-C543C1B428B9}"/>
              </a:ext>
            </a:extLst>
          </p:cNvPr>
          <p:cNvSpPr/>
          <p:nvPr/>
        </p:nvSpPr>
        <p:spPr>
          <a:xfrm>
            <a:off x="291290" y="2891656"/>
            <a:ext cx="2741295" cy="228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Heavy reliance on aggregated, weakly labeled, or unverified datasets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Limited guarantees on data quality, freshness, and source provenance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Poor alignment between training data and real-time market conditions</a:t>
            </a:r>
            <a:endParaRPr lang="en-US" sz="1300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CF4C3D32-D900-E422-2913-FD4A86E83F6B}"/>
              </a:ext>
            </a:extLst>
          </p:cNvPr>
          <p:cNvSpPr/>
          <p:nvPr/>
        </p:nvSpPr>
        <p:spPr>
          <a:xfrm>
            <a:off x="3263880" y="1803068"/>
            <a:ext cx="3189089" cy="3784402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954F2200-CCB7-A600-75FA-000CA133BC1D}"/>
              </a:ext>
            </a:extLst>
          </p:cNvPr>
          <p:cNvSpPr/>
          <p:nvPr/>
        </p:nvSpPr>
        <p:spPr>
          <a:xfrm>
            <a:off x="3241020" y="1803068"/>
            <a:ext cx="91440" cy="3784402"/>
          </a:xfrm>
          <a:prstGeom prst="roundRect">
            <a:avLst>
              <a:gd name="adj" fmla="val 273623"/>
            </a:avLst>
          </a:prstGeom>
          <a:solidFill>
            <a:srgbClr val="C7A2AC"/>
          </a:solidFill>
          <a:ln/>
        </p:spPr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1D017872-F43E-BD44-9C8B-481A6CA61CE7}"/>
              </a:ext>
            </a:extLst>
          </p:cNvPr>
          <p:cNvSpPr/>
          <p:nvPr/>
        </p:nvSpPr>
        <p:spPr>
          <a:xfrm>
            <a:off x="3522008" y="1992615"/>
            <a:ext cx="2741414" cy="112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Prediction Reliability &amp; Context Gaps</a:t>
            </a:r>
            <a:endParaRPr lang="en-US" sz="235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D7F6FC60-45FA-8DD7-BD80-3A5724BB4663}"/>
              </a:ext>
            </a:extLst>
          </p:cNvPr>
          <p:cNvSpPr/>
          <p:nvPr/>
        </p:nvSpPr>
        <p:spPr>
          <a:xfrm>
            <a:off x="3522008" y="3266227"/>
            <a:ext cx="2741414" cy="2027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Predictions exposed without uncertainty or confidence bounds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Weak contextual justification beyond raw output values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Failure to abstain under low-confidence or out-of-distribution inputs</a:t>
            </a:r>
            <a:endParaRPr lang="en-US" sz="1300" dirty="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FF4A6A70-0894-3124-D58E-29E9337736A0}"/>
              </a:ext>
            </a:extLst>
          </p:cNvPr>
          <p:cNvSpPr/>
          <p:nvPr/>
        </p:nvSpPr>
        <p:spPr>
          <a:xfrm>
            <a:off x="6493916" y="1803068"/>
            <a:ext cx="3188970" cy="3784402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CA877930-988C-43F0-F70B-C08190425272}"/>
              </a:ext>
            </a:extLst>
          </p:cNvPr>
          <p:cNvSpPr/>
          <p:nvPr/>
        </p:nvSpPr>
        <p:spPr>
          <a:xfrm>
            <a:off x="6471056" y="1803068"/>
            <a:ext cx="91440" cy="3784402"/>
          </a:xfrm>
          <a:prstGeom prst="roundRect">
            <a:avLst>
              <a:gd name="adj" fmla="val 273623"/>
            </a:avLst>
          </a:prstGeom>
          <a:solidFill>
            <a:srgbClr val="C7A2AC"/>
          </a:solidFill>
          <a:ln/>
        </p:spPr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E3CA7A41-3C84-68F5-8755-789949E65CBF}"/>
              </a:ext>
            </a:extLst>
          </p:cNvPr>
          <p:cNvSpPr/>
          <p:nvPr/>
        </p:nvSpPr>
        <p:spPr>
          <a:xfrm>
            <a:off x="6752043" y="1992615"/>
            <a:ext cx="2741295" cy="112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Real-Time Adaptability &amp; Explainability Gaps</a:t>
            </a:r>
            <a:endParaRPr lang="en-US" sz="235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DAE8E6A7-8B91-90C8-63BD-58D66F6AD29D}"/>
              </a:ext>
            </a:extLst>
          </p:cNvPr>
          <p:cNvSpPr/>
          <p:nvPr/>
        </p:nvSpPr>
        <p:spPr>
          <a:xfrm>
            <a:off x="6752043" y="3266227"/>
            <a:ext cx="2741295" cy="2027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Static or coarse regime assumptions (e.g., bull/bear phases)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Inadequate recalibration to live market signals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Black-box deep models lack interpretable, auditable reasoning</a:t>
            </a:r>
            <a:endParaRPr lang="en-US" sz="130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76F1DBEA-C7CB-FECB-A793-F18E0271C92E}"/>
              </a:ext>
            </a:extLst>
          </p:cNvPr>
          <p:cNvSpPr/>
          <p:nvPr/>
        </p:nvSpPr>
        <p:spPr>
          <a:xfrm>
            <a:off x="9695138" y="1803068"/>
            <a:ext cx="2463700" cy="3784402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94A4BEEC-4509-3513-C96C-55E511548AE9}"/>
              </a:ext>
            </a:extLst>
          </p:cNvPr>
          <p:cNvSpPr/>
          <p:nvPr/>
        </p:nvSpPr>
        <p:spPr>
          <a:xfrm>
            <a:off x="9672277" y="1803068"/>
            <a:ext cx="91440" cy="3784402"/>
          </a:xfrm>
          <a:prstGeom prst="roundRect">
            <a:avLst>
              <a:gd name="adj" fmla="val 273623"/>
            </a:avLst>
          </a:prstGeom>
          <a:solidFill>
            <a:srgbClr val="C7A2AC"/>
          </a:solidFill>
          <a:ln/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44915E32-213B-20F0-AED2-63F37A6E4D83}"/>
              </a:ext>
            </a:extLst>
          </p:cNvPr>
          <p:cNvSpPr/>
          <p:nvPr/>
        </p:nvSpPr>
        <p:spPr>
          <a:xfrm>
            <a:off x="9913936" y="1963119"/>
            <a:ext cx="2093672" cy="749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Accountability &amp; Auditability Gaps</a:t>
            </a:r>
            <a:endParaRPr lang="en-US" sz="20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EC50C335-3359-B730-AE50-BF68CCC70670}"/>
              </a:ext>
            </a:extLst>
          </p:cNvPr>
          <p:cNvSpPr/>
          <p:nvPr/>
        </p:nvSpPr>
        <p:spPr>
          <a:xfrm>
            <a:off x="9872433" y="2832664"/>
            <a:ext cx="2174503" cy="177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No tamper-proof logging of data, parameters, and decisions</a:t>
            </a:r>
            <a:endParaRPr lang="en-US" sz="12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Missing traceability across prediction lifecycles</a:t>
            </a:r>
            <a:endParaRPr lang="en-US" sz="12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Insufficient regulatory and manipulation safeguards</a:t>
            </a:r>
            <a:endParaRPr lang="en-US" sz="1200" dirty="0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5B094DB2-411F-3C8A-E909-90E08F5DAEBE}"/>
              </a:ext>
            </a:extLst>
          </p:cNvPr>
          <p:cNvSpPr/>
          <p:nvPr/>
        </p:nvSpPr>
        <p:spPr>
          <a:xfrm>
            <a:off x="13498" y="5449092"/>
            <a:ext cx="12247327" cy="663178"/>
          </a:xfrm>
          <a:prstGeom prst="roundRect">
            <a:avLst>
              <a:gd name="adj" fmla="val 37728"/>
            </a:avLst>
          </a:prstGeom>
          <a:solidFill>
            <a:srgbClr val="E2CFD4"/>
          </a:solidFill>
          <a:ln/>
        </p:spPr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DF3D0A34-8764-BAA4-B871-94C28DC9C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86" y="5694480"/>
            <a:ext cx="208478" cy="166688"/>
          </a:xfrm>
          <a:prstGeom prst="rect">
            <a:avLst/>
          </a:prstGeom>
        </p:spPr>
      </p:pic>
      <p:sp>
        <p:nvSpPr>
          <p:cNvPr id="38" name="Text 18">
            <a:extLst>
              <a:ext uri="{FF2B5EF4-FFF2-40B4-BE49-F238E27FC236}">
                <a16:creationId xmlns:a16="http://schemas.microsoft.com/office/drawing/2014/main" id="{BA8ED0E2-FA4E-06B8-0B94-FB39A28FA3BE}"/>
              </a:ext>
            </a:extLst>
          </p:cNvPr>
          <p:cNvSpPr/>
          <p:nvPr/>
        </p:nvSpPr>
        <p:spPr>
          <a:xfrm>
            <a:off x="732333" y="5640664"/>
            <a:ext cx="12754332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These limitations undermine prediction reliability, trust, and safe real-world deployment.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84823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2438400" y="1572031"/>
            <a:ext cx="82296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3686184" y="1143000"/>
            <a:ext cx="698181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Approach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Google Shape;121;p2">
            <a:extLst>
              <a:ext uri="{FF2B5EF4-FFF2-40B4-BE49-F238E27FC236}">
                <a16:creationId xmlns:a16="http://schemas.microsoft.com/office/drawing/2014/main" id="{98DA9238-2447-661A-87F2-76569F1ED6C1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A8F04A13-339B-5A75-1592-8F50E8153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C73B4E-3023-4BA3-4FFD-F628FA42A7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5"/>
          <a:stretch>
            <a:fillRect/>
          </a:stretch>
        </p:blipFill>
        <p:spPr bwMode="auto">
          <a:xfrm>
            <a:off x="-1" y="1617750"/>
            <a:ext cx="12192000" cy="472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4ACB6FB0-FF00-5CAE-BB52-6EE7C823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5DF7BAE-F19C-A162-CD29-DF969A051812}"/>
              </a:ext>
            </a:extLst>
          </p:cNvPr>
          <p:cNvSpPr/>
          <p:nvPr/>
        </p:nvSpPr>
        <p:spPr>
          <a:xfrm>
            <a:off x="2438400" y="1572031"/>
            <a:ext cx="82296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0DDE31DD-BAE5-5E59-A5C6-95108240AE81}"/>
              </a:ext>
            </a:extLst>
          </p:cNvPr>
          <p:cNvSpPr txBox="1"/>
          <p:nvPr/>
        </p:nvSpPr>
        <p:spPr>
          <a:xfrm>
            <a:off x="3686184" y="1143000"/>
            <a:ext cx="698181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Approach 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5">
            <a:extLst>
              <a:ext uri="{FF2B5EF4-FFF2-40B4-BE49-F238E27FC236}">
                <a16:creationId xmlns:a16="http://schemas.microsoft.com/office/drawing/2014/main" id="{C2FB67AC-AB64-7F73-5FAD-28FFD16108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>
            <a:extLst>
              <a:ext uri="{FF2B5EF4-FFF2-40B4-BE49-F238E27FC236}">
                <a16:creationId xmlns:a16="http://schemas.microsoft.com/office/drawing/2014/main" id="{87124A3B-E28E-05B0-13BC-611109313E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CD263BEE-2145-E61F-0EFC-EBB74E1C9528}"/>
              </a:ext>
            </a:extLst>
          </p:cNvPr>
          <p:cNvSpPr txBox="1"/>
          <p:nvPr/>
        </p:nvSpPr>
        <p:spPr>
          <a:xfrm>
            <a:off x="302343" y="1956699"/>
            <a:ext cx="5429864" cy="178510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Approach Followed</a:t>
            </a:r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Font typeface="+mj-lt"/>
              <a:buAutoNum type="arabicParenR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followed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frontend-first, modular polyglot design approach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 algn="just">
              <a:buFont typeface="+mj-lt"/>
              <a:buAutoNum type="arabicParenR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as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logically independent components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Font typeface="+mj-lt"/>
              <a:buAutoNum type="arabicParenR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component is planned to use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suitable technology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its role</a:t>
            </a:r>
          </a:p>
          <a:p>
            <a:pPr marL="228600" indent="-228600" algn="just">
              <a:buFont typeface="+mj-lt"/>
              <a:buAutoNum type="arabicParenR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 and visualization are prioritized in the current phase</a:t>
            </a:r>
          </a:p>
          <a:p>
            <a:pPr marL="228600" indent="-228600" algn="just">
              <a:buFont typeface="+mj-lt"/>
              <a:buAutoNum type="arabicParenR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 are used to formally capture system structure and flow</a:t>
            </a:r>
          </a:p>
          <a:p>
            <a:pPr marL="228600" indent="-228600" algn="just">
              <a:buFont typeface="+mj-lt"/>
              <a:buAutoNum type="arabicParenR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emphasizes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separation of concerns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early integration.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D171F-9178-B359-A9EE-2CDE81324FFA}"/>
              </a:ext>
            </a:extLst>
          </p:cNvPr>
          <p:cNvSpPr txBox="1"/>
          <p:nvPr/>
        </p:nvSpPr>
        <p:spPr>
          <a:xfrm>
            <a:off x="5928851" y="1956700"/>
            <a:ext cx="6096000" cy="17851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approach was chosen</a:t>
            </a:r>
          </a:p>
          <a:p>
            <a:pPr algn="ctr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decision systems involve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responsibilities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visualization, analytics, and explanation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monolithic design limits flexibility and clarity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frontend-first approach helps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feasibility early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reduces coupling and improves understandability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Polyglot architecture allows future scalability without redesign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D6418-2DAE-E77B-CA96-5941F314FA12}"/>
              </a:ext>
            </a:extLst>
          </p:cNvPr>
          <p:cNvSpPr txBox="1"/>
          <p:nvPr/>
        </p:nvSpPr>
        <p:spPr>
          <a:xfrm>
            <a:off x="302343" y="4093804"/>
            <a:ext cx="5429864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algn="ctr"/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component boundaries improve architectural clarity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understanding and validation of system flow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flexibility for different system responsibilities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development and testing of modules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alignment with real-world financial platforms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25D0A-F37F-949A-FB11-4D15237230A1}"/>
              </a:ext>
            </a:extLst>
          </p:cNvPr>
          <p:cNvSpPr txBox="1"/>
          <p:nvPr/>
        </p:nvSpPr>
        <p:spPr>
          <a:xfrm>
            <a:off x="5928851" y="4093804"/>
            <a:ext cx="6096000" cy="16004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architectural complexity compared to monolithic designs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careful definition of interfaces between components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effort is deferred to later phases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drawbacks are acceptable at this stage since the focus is on design validation and feasibility.</a:t>
            </a:r>
          </a:p>
        </p:txBody>
      </p:sp>
      <p:sp>
        <p:nvSpPr>
          <p:cNvPr id="2" name="Google Shape;121;p2">
            <a:extLst>
              <a:ext uri="{FF2B5EF4-FFF2-40B4-BE49-F238E27FC236}">
                <a16:creationId xmlns:a16="http://schemas.microsoft.com/office/drawing/2014/main" id="{1C1CEF50-1B4D-B5FD-CC8A-D89CB9F4EA2A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6032E3C9-D529-24B7-3158-5415037C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757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04C1E7BB-7830-3723-8A5C-6570C57D9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>
            <a:extLst>
              <a:ext uri="{FF2B5EF4-FFF2-40B4-BE49-F238E27FC236}">
                <a16:creationId xmlns:a16="http://schemas.microsoft.com/office/drawing/2014/main" id="{65C802CF-5C83-3C6F-4769-59152653AC0A}"/>
              </a:ext>
            </a:extLst>
          </p:cNvPr>
          <p:cNvSpPr/>
          <p:nvPr/>
        </p:nvSpPr>
        <p:spPr>
          <a:xfrm>
            <a:off x="1872343" y="1581149"/>
            <a:ext cx="8795657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>
            <a:extLst>
              <a:ext uri="{FF2B5EF4-FFF2-40B4-BE49-F238E27FC236}">
                <a16:creationId xmlns:a16="http://schemas.microsoft.com/office/drawing/2014/main" id="{C32C6870-83DF-782A-2F36-4767AEDA1452}"/>
              </a:ext>
            </a:extLst>
          </p:cNvPr>
          <p:cNvSpPr txBox="1"/>
          <p:nvPr/>
        </p:nvSpPr>
        <p:spPr>
          <a:xfrm>
            <a:off x="3418114" y="1143000"/>
            <a:ext cx="7249886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 &amp; Dependencies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6">
            <a:extLst>
              <a:ext uri="{FF2B5EF4-FFF2-40B4-BE49-F238E27FC236}">
                <a16:creationId xmlns:a16="http://schemas.microsoft.com/office/drawing/2014/main" id="{44AC9646-41B3-1669-A1B9-47BF0AEF51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>
            <a:extLst>
              <a:ext uri="{FF2B5EF4-FFF2-40B4-BE49-F238E27FC236}">
                <a16:creationId xmlns:a16="http://schemas.microsoft.com/office/drawing/2014/main" id="{26BBF82B-3972-009D-0B04-78B8434580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8D9D72-6D31-92D1-A69D-4AD0D8049195}"/>
              </a:ext>
            </a:extLst>
          </p:cNvPr>
          <p:cNvSpPr txBox="1"/>
          <p:nvPr/>
        </p:nvSpPr>
        <p:spPr>
          <a:xfrm>
            <a:off x="76201" y="1750405"/>
            <a:ext cx="3431458" cy="2246769"/>
          </a:xfrm>
          <a:prstGeom prst="rect">
            <a:avLst/>
          </a:prstGeom>
          <a:solidFill>
            <a:schemeClr val="tx2">
              <a:alpha val="31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Constraints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Academic time constraints limited full end-to-end integration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access to live trading or real-money execution environments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required to remain explainability-focused rather than accuracy-focused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 needed to support multiple technologies without tight coupling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57839-5397-4DB9-62FF-1562D05D87D2}"/>
              </a:ext>
            </a:extLst>
          </p:cNvPr>
          <p:cNvSpPr txBox="1"/>
          <p:nvPr/>
        </p:nvSpPr>
        <p:spPr>
          <a:xfrm>
            <a:off x="76201" y="4254605"/>
            <a:ext cx="3425981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1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Assumptions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benefit more from transparent visual explanations than raw predictions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Historical market data is sufficient for demonstrating feasibility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Clear separation of system components improves understandability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can be safely deferred if system flow is well-defined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2BB68-30D1-6333-C6A7-AF37F7840FA7}"/>
              </a:ext>
            </a:extLst>
          </p:cNvPr>
          <p:cNvSpPr txBox="1"/>
          <p:nvPr/>
        </p:nvSpPr>
        <p:spPr>
          <a:xfrm>
            <a:off x="9114502" y="1750405"/>
            <a:ext cx="2859783" cy="2246769"/>
          </a:xfrm>
          <a:prstGeom prst="rect">
            <a:avLst/>
          </a:prstGeom>
          <a:solidFill>
            <a:schemeClr val="tx2">
              <a:alpha val="23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Dependencies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Availability of historical market data for visualization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Visualization and charting libraries for frontend rendering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Well-defined interfaces between logical system components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UML modeling tools for design validation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04B4C-045A-F330-0B7C-10576A2E5BA9}"/>
              </a:ext>
            </a:extLst>
          </p:cNvPr>
          <p:cNvSpPr txBox="1"/>
          <p:nvPr/>
        </p:nvSpPr>
        <p:spPr>
          <a:xfrm>
            <a:off x="9068853" y="4089479"/>
            <a:ext cx="2939143" cy="2246769"/>
          </a:xfrm>
          <a:prstGeom prst="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the Project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Enables early validation of user workflows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risk of architectural rework in later phases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independent evolution of system components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Shifts integration effort to subsequent phases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121;p2">
            <a:extLst>
              <a:ext uri="{FF2B5EF4-FFF2-40B4-BE49-F238E27FC236}">
                <a16:creationId xmlns:a16="http://schemas.microsoft.com/office/drawing/2014/main" id="{E67FA31D-5B25-7AC5-E6C3-56588130E4F4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6;p3">
            <a:extLst>
              <a:ext uri="{FF2B5EF4-FFF2-40B4-BE49-F238E27FC236}">
                <a16:creationId xmlns:a16="http://schemas.microsoft.com/office/drawing/2014/main" id="{AEC94BE2-8CD0-DE8D-FB79-E00D3EA3F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1A6D2EB-8F2B-8C48-9E67-BCA660F80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705" y="1856608"/>
            <a:ext cx="5222751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073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4191000" y="1143000"/>
            <a:ext cx="6476999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 / Approach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A3294D15-B0A2-8EAA-6DFF-CEA2CAE14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350" y="1617750"/>
            <a:ext cx="6096000" cy="464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0F1AB86A-4C70-0B0B-5F37-F77AEB1F03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9"/>
          <a:stretch>
            <a:fillRect/>
          </a:stretch>
        </p:blipFill>
        <p:spPr bwMode="auto">
          <a:xfrm>
            <a:off x="94125" y="1647246"/>
            <a:ext cx="5632450" cy="464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21;p2">
            <a:extLst>
              <a:ext uri="{FF2B5EF4-FFF2-40B4-BE49-F238E27FC236}">
                <a16:creationId xmlns:a16="http://schemas.microsoft.com/office/drawing/2014/main" id="{4705EEB7-A136-939A-7FD5-2DD41D08D5E8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EBE7BAC9-3B25-C8CC-7B01-9BCB43A58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2C0602D-F064-7108-496E-FB39BAAAF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>
            <a:extLst>
              <a:ext uri="{FF2B5EF4-FFF2-40B4-BE49-F238E27FC236}">
                <a16:creationId xmlns:a16="http://schemas.microsoft.com/office/drawing/2014/main" id="{CCA74AC2-F740-DA40-56AC-45CFB360386D}"/>
              </a:ext>
            </a:extLst>
          </p:cNvPr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>
            <a:extLst>
              <a:ext uri="{FF2B5EF4-FFF2-40B4-BE49-F238E27FC236}">
                <a16:creationId xmlns:a16="http://schemas.microsoft.com/office/drawing/2014/main" id="{82DAFB0A-3A90-B0DE-10FD-9F3FCD9344C6}"/>
              </a:ext>
            </a:extLst>
          </p:cNvPr>
          <p:cNvSpPr txBox="1"/>
          <p:nvPr/>
        </p:nvSpPr>
        <p:spPr>
          <a:xfrm>
            <a:off x="4191000" y="1143000"/>
            <a:ext cx="6476999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 / Approach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7">
            <a:extLst>
              <a:ext uri="{FF2B5EF4-FFF2-40B4-BE49-F238E27FC236}">
                <a16:creationId xmlns:a16="http://schemas.microsoft.com/office/drawing/2014/main" id="{E55A8C79-910F-7FF0-A627-EAFE696740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>
            <a:extLst>
              <a:ext uri="{FF2B5EF4-FFF2-40B4-BE49-F238E27FC236}">
                <a16:creationId xmlns:a16="http://schemas.microsoft.com/office/drawing/2014/main" id="{EFBD1796-4873-EF48-D7C7-D176109491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Google Shape;121;p2">
            <a:extLst>
              <a:ext uri="{FF2B5EF4-FFF2-40B4-BE49-F238E27FC236}">
                <a16:creationId xmlns:a16="http://schemas.microsoft.com/office/drawing/2014/main" id="{72850D59-9B0E-C579-147C-293C86396DC9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C1E0D4FB-89B2-BBF1-E069-72B0BAD29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C914F040-E2CD-6232-024D-A436CB55F5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1"/>
          <a:stretch>
            <a:fillRect/>
          </a:stretch>
        </p:blipFill>
        <p:spPr bwMode="auto">
          <a:xfrm>
            <a:off x="1652588" y="1700981"/>
            <a:ext cx="8886825" cy="463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042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D46CA0D3-8DB2-1553-88C4-5DA90F3E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>
            <a:extLst>
              <a:ext uri="{FF2B5EF4-FFF2-40B4-BE49-F238E27FC236}">
                <a16:creationId xmlns:a16="http://schemas.microsoft.com/office/drawing/2014/main" id="{20112ED0-C9FD-844D-83A1-E6BA4C7E4160}"/>
              </a:ext>
            </a:extLst>
          </p:cNvPr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3" name="Google Shape;173;p7">
            <a:extLst>
              <a:ext uri="{FF2B5EF4-FFF2-40B4-BE49-F238E27FC236}">
                <a16:creationId xmlns:a16="http://schemas.microsoft.com/office/drawing/2014/main" id="{783D7440-DDE6-CE28-21F5-32836C4AE3F7}"/>
              </a:ext>
            </a:extLst>
          </p:cNvPr>
          <p:cNvSpPr txBox="1"/>
          <p:nvPr/>
        </p:nvSpPr>
        <p:spPr>
          <a:xfrm>
            <a:off x="4191000" y="1143000"/>
            <a:ext cx="6476999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Methodology / Approach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7">
            <a:extLst>
              <a:ext uri="{FF2B5EF4-FFF2-40B4-BE49-F238E27FC236}">
                <a16:creationId xmlns:a16="http://schemas.microsoft.com/office/drawing/2014/main" id="{7A2DD6B7-F67D-2A9C-FCE9-A854CBB836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>
            <a:extLst>
              <a:ext uri="{FF2B5EF4-FFF2-40B4-BE49-F238E27FC236}">
                <a16:creationId xmlns:a16="http://schemas.microsoft.com/office/drawing/2014/main" id="{BD56943E-3B0F-19C4-7365-391A471391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121;p2">
            <a:extLst>
              <a:ext uri="{FF2B5EF4-FFF2-40B4-BE49-F238E27FC236}">
                <a16:creationId xmlns:a16="http://schemas.microsoft.com/office/drawing/2014/main" id="{0377FD11-E7C0-4E29-D045-B8038B82F89B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E8EDDBEF-9B46-A7EF-AB96-A3FA0828F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3EBC1AE-96DC-7FFA-E07C-271C3A021537}"/>
              </a:ext>
            </a:extLst>
          </p:cNvPr>
          <p:cNvSpPr/>
          <p:nvPr/>
        </p:nvSpPr>
        <p:spPr>
          <a:xfrm>
            <a:off x="1053126" y="1775243"/>
            <a:ext cx="10159357" cy="460534"/>
          </a:xfrm>
          <a:prstGeom prst="roundRect">
            <a:avLst>
              <a:gd name="adj" fmla="val 34523"/>
            </a:avLst>
          </a:prstGeom>
          <a:solidFill>
            <a:srgbClr val="E2CFD4"/>
          </a:solidFill>
          <a:ln/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D1CA244-7BCC-88F8-BC28-1806C76D0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091" y="1913951"/>
            <a:ext cx="132398" cy="105966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F4056C7A-E388-000E-95CE-6BDB20D0DD63}"/>
              </a:ext>
            </a:extLst>
          </p:cNvPr>
          <p:cNvSpPr/>
          <p:nvPr/>
        </p:nvSpPr>
        <p:spPr>
          <a:xfrm>
            <a:off x="1541099" y="1862159"/>
            <a:ext cx="8736904" cy="278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Core Philosophy:</a:t>
            </a:r>
            <a:r>
              <a:rPr lang="en-US" sz="1000" dirty="0">
                <a:solidFill>
                  <a:srgbClr val="000000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 Execute decisions under high confidence with transparent justifications; abstain under uncertainty to preserve system integrity. </a:t>
            </a:r>
          </a:p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Explainability gates every action, ensuring continuous monitoring, gradual state transitions, and safe operational boundaries in dynamic environments.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DEC668B-7E08-45AB-C8BB-8350E2914F98}"/>
              </a:ext>
            </a:extLst>
          </p:cNvPr>
          <p:cNvSpPr/>
          <p:nvPr/>
        </p:nvSpPr>
        <p:spPr>
          <a:xfrm>
            <a:off x="1053126" y="2297965"/>
            <a:ext cx="190452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chemeClr val="tx1"/>
                </a:solidFill>
                <a:latin typeface="Times New Roman" panose="02020603050405020304" pitchFamily="18" charset="0"/>
                <a:ea typeface="Baskervville" pitchFamily="34" charset="-122"/>
                <a:cs typeface="Times New Roman" panose="02020603050405020304" pitchFamily="18" charset="0"/>
              </a:rPr>
              <a:t>System Dynamics</a:t>
            </a:r>
            <a:endParaRPr lang="en-US" sz="14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06E5602-722B-B771-15E6-8DC114832CDA}"/>
              </a:ext>
            </a:extLst>
          </p:cNvPr>
          <p:cNvSpPr/>
          <p:nvPr/>
        </p:nvSpPr>
        <p:spPr>
          <a:xfrm>
            <a:off x="1053126" y="2596574"/>
            <a:ext cx="4049816" cy="1065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Two operational states: Stable (full execution) and Protective (monitored abstention)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Gradual regime transitions through warning thresholds prevent abrupt failures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Execution pauses under uncertainty, enabling recovery without termination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Continuous state monitoring maintains system awareness across regimes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F086F22-9E1D-2232-82CE-4B6EB49E3FB2}"/>
              </a:ext>
            </a:extLst>
          </p:cNvPr>
          <p:cNvSpPr/>
          <p:nvPr/>
        </p:nvSpPr>
        <p:spPr>
          <a:xfrm>
            <a:off x="1053126" y="3683714"/>
            <a:ext cx="190452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chemeClr val="tx1"/>
                </a:solidFill>
                <a:latin typeface="Times New Roman" panose="02020603050405020304" pitchFamily="18" charset="0"/>
                <a:ea typeface="Baskervville" pitchFamily="34" charset="-122"/>
                <a:cs typeface="Times New Roman" panose="02020603050405020304" pitchFamily="18" charset="0"/>
              </a:rPr>
              <a:t>Governance &amp; Trust</a:t>
            </a:r>
            <a:endParaRPr lang="en-US" sz="14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5F631FA-8683-4ACD-AF53-31FB0FEBB5EC}"/>
              </a:ext>
            </a:extLst>
          </p:cNvPr>
          <p:cNvSpPr/>
          <p:nvPr/>
        </p:nvSpPr>
        <p:spPr>
          <a:xfrm>
            <a:off x="1053125" y="3982323"/>
            <a:ext cx="3548371" cy="1065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Explainability requirements enforced during all execution phases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Justification protocols activate during abstention events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Human-in-the-loop escalation for critical uncertainty thresholds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Audit trails and interpretability ensure regulatory compliance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26A05256-C72E-65C4-8E68-313FBA1F7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86" y="2460473"/>
            <a:ext cx="5851684" cy="331136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62A249F1-9C78-A1D2-2500-F6BEE9F957A0}"/>
              </a:ext>
            </a:extLst>
          </p:cNvPr>
          <p:cNvSpPr/>
          <p:nvPr/>
        </p:nvSpPr>
        <p:spPr>
          <a:xfrm>
            <a:off x="9682955" y="2875886"/>
            <a:ext cx="1923366" cy="240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Baskervville" pitchFamily="34" charset="-122"/>
                <a:cs typeface="Times New Roman" panose="02020603050405020304" pitchFamily="18" charset="0"/>
              </a:rPr>
              <a:t>Monitor</a:t>
            </a: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86853F2-AF14-4614-A801-49EC892AA11B}"/>
              </a:ext>
            </a:extLst>
          </p:cNvPr>
          <p:cNvSpPr/>
          <p:nvPr/>
        </p:nvSpPr>
        <p:spPr>
          <a:xfrm>
            <a:off x="9682955" y="3163834"/>
            <a:ext cx="2051591" cy="21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Continuous observation of inputs and model outputs.</a:t>
            </a:r>
            <a:endParaRPr lang="en-US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6416499E-E40F-CD29-29BD-02097EC60C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1696" y="2875515"/>
            <a:ext cx="178398" cy="178399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EECC57CC-7AAA-7BE6-E879-B98D766CB1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72978" y="3529645"/>
            <a:ext cx="178399" cy="178399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80BBE40E-009E-54D7-8BFD-8B3BE4AC2960}"/>
              </a:ext>
            </a:extLst>
          </p:cNvPr>
          <p:cNvSpPr/>
          <p:nvPr/>
        </p:nvSpPr>
        <p:spPr>
          <a:xfrm>
            <a:off x="6289840" y="3529180"/>
            <a:ext cx="1923366" cy="240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Baskervville" pitchFamily="34" charset="-122"/>
                <a:cs typeface="Times New Roman" panose="02020603050405020304" pitchFamily="18" charset="0"/>
              </a:rPr>
              <a:t>Explain</a:t>
            </a: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4B1452C-2CA5-7B0F-D8A6-87628F395EAC}"/>
              </a:ext>
            </a:extLst>
          </p:cNvPr>
          <p:cNvSpPr/>
          <p:nvPr/>
        </p:nvSpPr>
        <p:spPr>
          <a:xfrm>
            <a:off x="6161616" y="3817128"/>
            <a:ext cx="2051591" cy="21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Interpretability layer acts as execution gate.</a:t>
            </a:r>
            <a:endParaRPr lang="en-US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95E8D6B-532B-01A0-0522-4BA84930FBC3}"/>
              </a:ext>
            </a:extLst>
          </p:cNvPr>
          <p:cNvSpPr/>
          <p:nvPr/>
        </p:nvSpPr>
        <p:spPr>
          <a:xfrm>
            <a:off x="9682955" y="4184147"/>
            <a:ext cx="1923366" cy="240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Baskervville" pitchFamily="34" charset="-122"/>
                <a:cs typeface="Times New Roman" panose="02020603050405020304" pitchFamily="18" charset="0"/>
              </a:rPr>
              <a:t>Decide</a:t>
            </a: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235024C0-CD39-DCDD-43F0-BEFF1C2929B1}"/>
              </a:ext>
            </a:extLst>
          </p:cNvPr>
          <p:cNvSpPr/>
          <p:nvPr/>
        </p:nvSpPr>
        <p:spPr>
          <a:xfrm>
            <a:off x="9682955" y="4478433"/>
            <a:ext cx="2051591" cy="21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Confidence assessment determines branch.</a:t>
            </a:r>
            <a:endParaRPr lang="en-US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E3B01611-C296-66F6-4DD4-0951A9C727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61696" y="4183775"/>
            <a:ext cx="178398" cy="178399"/>
          </a:xfrm>
          <a:prstGeom prst="rect">
            <a:avLst/>
          </a:prstGeom>
        </p:spPr>
      </p:pic>
      <p:sp>
        <p:nvSpPr>
          <p:cNvPr id="22" name="Text 13">
            <a:extLst>
              <a:ext uri="{FF2B5EF4-FFF2-40B4-BE49-F238E27FC236}">
                <a16:creationId xmlns:a16="http://schemas.microsoft.com/office/drawing/2014/main" id="{18C5479A-4631-A108-586D-5BFA10558301}"/>
              </a:ext>
            </a:extLst>
          </p:cNvPr>
          <p:cNvSpPr/>
          <p:nvPr/>
        </p:nvSpPr>
        <p:spPr>
          <a:xfrm>
            <a:off x="6290770" y="4775792"/>
            <a:ext cx="1923366" cy="240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ea typeface="Baskervville" pitchFamily="34" charset="-122"/>
                <a:cs typeface="Times New Roman" panose="02020603050405020304" pitchFamily="18" charset="0"/>
              </a:rPr>
              <a:t>Execute</a:t>
            </a:r>
            <a:endParaRPr lang="en-US" sz="1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A9DC6DF8-E851-1AAB-0AE8-B6B143EEAA94}"/>
              </a:ext>
            </a:extLst>
          </p:cNvPr>
          <p:cNvSpPr/>
          <p:nvPr/>
        </p:nvSpPr>
        <p:spPr>
          <a:xfrm>
            <a:off x="6162545" y="5063739"/>
            <a:ext cx="2051591" cy="210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Stable regime when confidence is high.</a:t>
            </a:r>
            <a:endParaRPr lang="en-US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60D5409D-D217-D9C4-F21B-FE8C27CE83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2978" y="4775420"/>
            <a:ext cx="178399" cy="178399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B7FE2763-B6A3-D891-B40A-B94894C78BC1}"/>
              </a:ext>
            </a:extLst>
          </p:cNvPr>
          <p:cNvSpPr/>
          <p:nvPr/>
        </p:nvSpPr>
        <p:spPr>
          <a:xfrm>
            <a:off x="6161616" y="5790140"/>
            <a:ext cx="5851684" cy="266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i="1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Central mechanism: Explainability serves as the execution gate; confidence levels and regime states control system behavior and transition dynamics.</a:t>
            </a:r>
            <a:endParaRPr 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364AEE87-35E0-AAAD-7EFF-2B925E9E4A56}"/>
              </a:ext>
            </a:extLst>
          </p:cNvPr>
          <p:cNvSpPr/>
          <p:nvPr/>
        </p:nvSpPr>
        <p:spPr>
          <a:xfrm>
            <a:off x="927645" y="5508096"/>
            <a:ext cx="4594265" cy="812840"/>
          </a:xfrm>
          <a:prstGeom prst="roundRect">
            <a:avLst>
              <a:gd name="adj" fmla="val 31296"/>
            </a:avLst>
          </a:prstGeom>
          <a:solidFill>
            <a:srgbClr val="C7A2AC"/>
          </a:solidFill>
          <a:ln/>
        </p:spPr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60036745-EF67-5E7D-7E5C-C392DC0553EA}"/>
              </a:ext>
            </a:extLst>
          </p:cNvPr>
          <p:cNvSpPr/>
          <p:nvPr/>
        </p:nvSpPr>
        <p:spPr>
          <a:xfrm>
            <a:off x="1033610" y="5617744"/>
            <a:ext cx="190452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Baskervville" pitchFamily="34" charset="-122"/>
                <a:cs typeface="Times New Roman" panose="02020603050405020304" pitchFamily="18" charset="0"/>
              </a:rPr>
              <a:t>Design Trade-offs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C061523F-5E84-E7F4-3D1B-A7188AE93AE7}"/>
              </a:ext>
            </a:extLst>
          </p:cNvPr>
          <p:cNvSpPr/>
          <p:nvPr/>
        </p:nvSpPr>
        <p:spPr>
          <a:xfrm>
            <a:off x="1033610" y="5886856"/>
            <a:ext cx="4382333" cy="399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Conservative behavior under uncertainty increases safety margins but may reduce throughput. Higher architectural complexity enables robust adaptability at the cost of implementation overhead.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C7BF6A5D-70C6-B11A-C936-061FFDD67F0C}"/>
              </a:ext>
            </a:extLst>
          </p:cNvPr>
          <p:cNvSpPr/>
          <p:nvPr/>
        </p:nvSpPr>
        <p:spPr>
          <a:xfrm>
            <a:off x="1051311" y="4772163"/>
            <a:ext cx="190452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chemeClr val="tx1"/>
                </a:solidFill>
                <a:latin typeface="Times New Roman" panose="02020603050405020304" pitchFamily="18" charset="0"/>
                <a:ea typeface="Baskervville" pitchFamily="34" charset="-122"/>
                <a:cs typeface="Times New Roman" panose="02020603050405020304" pitchFamily="18" charset="0"/>
              </a:rPr>
              <a:t>Design Intent</a:t>
            </a:r>
            <a:endParaRPr lang="en-US" sz="14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FCA27B7A-9069-53EE-93C8-A4EA2071DACA}"/>
              </a:ext>
            </a:extLst>
          </p:cNvPr>
          <p:cNvSpPr/>
          <p:nvPr/>
        </p:nvSpPr>
        <p:spPr>
          <a:xfrm>
            <a:off x="1051311" y="5070771"/>
            <a:ext cx="4610858" cy="399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Poppins" pitchFamily="34" charset="-122"/>
                <a:cs typeface="Times New Roman" panose="02020603050405020304" pitchFamily="18" charset="0"/>
              </a:rPr>
              <a:t>Prioritize explainability-led control mechanisms where transparency drives decision authority. Abstention functions as an active safety fallback, not failure—preserving trust in high-stakes deployments.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45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59F50145-B8EF-D58F-D0A6-40C7CFDE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F8C7BD1E-577B-447A-71F7-349239B946F6}"/>
              </a:ext>
            </a:extLst>
          </p:cNvPr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33E1ACA0-377B-405F-D3BD-E880BFFA3DFA}"/>
              </a:ext>
            </a:extLst>
          </p:cNvPr>
          <p:cNvSpPr txBox="1"/>
          <p:nvPr/>
        </p:nvSpPr>
        <p:spPr>
          <a:xfrm>
            <a:off x="4604656" y="1143000"/>
            <a:ext cx="6063343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8">
            <a:extLst>
              <a:ext uri="{FF2B5EF4-FFF2-40B4-BE49-F238E27FC236}">
                <a16:creationId xmlns:a16="http://schemas.microsoft.com/office/drawing/2014/main" id="{DED09F1E-6668-3E29-4FEA-EDB777BF87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>
            <a:extLst>
              <a:ext uri="{FF2B5EF4-FFF2-40B4-BE49-F238E27FC236}">
                <a16:creationId xmlns:a16="http://schemas.microsoft.com/office/drawing/2014/main" id="{E15DD4FE-AE68-9D84-DB9B-B2F04B61C2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BAD240-73D0-7B68-2798-682CD0CBE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627" y="1654351"/>
            <a:ext cx="6925605" cy="4618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21;p2">
            <a:extLst>
              <a:ext uri="{FF2B5EF4-FFF2-40B4-BE49-F238E27FC236}">
                <a16:creationId xmlns:a16="http://schemas.microsoft.com/office/drawing/2014/main" id="{EA81CD0E-A6B3-29EE-C881-4E140F7E15AD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8374B-14B9-5A42-4C88-0F5FCB48D091}"/>
              </a:ext>
            </a:extLst>
          </p:cNvPr>
          <p:cNvSpPr txBox="1"/>
          <p:nvPr/>
        </p:nvSpPr>
        <p:spPr>
          <a:xfrm>
            <a:off x="206829" y="1858107"/>
            <a:ext cx="4572000" cy="4031873"/>
          </a:xfrm>
          <a:prstGeom prst="rect">
            <a:avLst/>
          </a:prstGeom>
          <a:solidFill>
            <a:schemeClr val="bg2">
              <a:lumMod val="20000"/>
              <a:lumOff val="80000"/>
              <a:alpha val="23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System Architecture Layers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Layer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Manages presentation and interaction by handling user engagement through the UI, dashboards for visualization, and interaction controls.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Intelligence Layer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Serves as the core decision logic, evaluating strategies and controlling execution or abstention based on confidence inputs and controller logic.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&amp; Explainability Layer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Acts as the "Explainability-First Core" by assessing uncertainty and regime stability to generate human-readable rationales for all decisions.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Governance Layer: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oversight and transparency through system monitoring, alert intelligence, and comprehensive audit trails to ensure accountability.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External Interfaces Layer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Abstracts data acquisition and reporting boundaries by managing market data sources, indicator inputs, and reporting outputs.</a:t>
            </a:r>
          </a:p>
        </p:txBody>
      </p:sp>
      <p:sp>
        <p:nvSpPr>
          <p:cNvPr id="5" name="Google Shape;96;p3">
            <a:extLst>
              <a:ext uri="{FF2B5EF4-FFF2-40B4-BE49-F238E27FC236}">
                <a16:creationId xmlns:a16="http://schemas.microsoft.com/office/drawing/2014/main" id="{FD7C85DE-3629-2FBE-33DA-7BDC74932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60E2F108-6E28-530A-22C7-905CFF55A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4305"/>
            <a:ext cx="12192000" cy="459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366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C7569D3B-AADE-CA2F-4302-5563A98B9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8">
            <a:extLst>
              <a:ext uri="{FF2B5EF4-FFF2-40B4-BE49-F238E27FC236}">
                <a16:creationId xmlns:a16="http://schemas.microsoft.com/office/drawing/2014/main" id="{30DC735E-3B04-7547-87DB-AE28A00173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>
            <a:extLst>
              <a:ext uri="{FF2B5EF4-FFF2-40B4-BE49-F238E27FC236}">
                <a16:creationId xmlns:a16="http://schemas.microsoft.com/office/drawing/2014/main" id="{A97AF153-222D-2412-5D0D-F28EAF5482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" name="Google Shape;121;p2">
            <a:extLst>
              <a:ext uri="{FF2B5EF4-FFF2-40B4-BE49-F238E27FC236}">
                <a16:creationId xmlns:a16="http://schemas.microsoft.com/office/drawing/2014/main" id="{68AF1D5C-4610-17F1-E220-E9397170421E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6;p3">
            <a:extLst>
              <a:ext uri="{FF2B5EF4-FFF2-40B4-BE49-F238E27FC236}">
                <a16:creationId xmlns:a16="http://schemas.microsoft.com/office/drawing/2014/main" id="{B26D5AAE-C855-6057-6FD8-92CCD7823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21B8488-0536-BBF1-5C94-4C52FDFCF9AF}"/>
              </a:ext>
            </a:extLst>
          </p:cNvPr>
          <p:cNvSpPr/>
          <p:nvPr/>
        </p:nvSpPr>
        <p:spPr>
          <a:xfrm>
            <a:off x="164436" y="2017967"/>
            <a:ext cx="3281363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Data &amp; External Interfaces</a:t>
            </a:r>
            <a:endParaRPr lang="en-US" sz="22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43BE694-016B-9647-2D69-95D3E652B316}"/>
              </a:ext>
            </a:extLst>
          </p:cNvPr>
          <p:cNvSpPr/>
          <p:nvPr/>
        </p:nvSpPr>
        <p:spPr>
          <a:xfrm>
            <a:off x="0" y="2449449"/>
            <a:ext cx="3445799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Market data sources, indicators, and signals provide raw, uncertain inputs to the system</a:t>
            </a:r>
            <a:endParaRPr lang="en-US" sz="12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3904352A-3F55-7CCD-0E88-186274310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828" y="1398723"/>
            <a:ext cx="4731782" cy="4731782"/>
          </a:xfrm>
          <a:prstGeom prst="rect">
            <a:avLst/>
          </a:prstGeom>
        </p:spPr>
      </p:pic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B2CC4837-F305-50B5-9F84-E6C806100E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6977" y="2457962"/>
            <a:ext cx="234434" cy="234434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FDCD570E-7ABB-C2E8-57AF-62329800BCB6}"/>
              </a:ext>
            </a:extLst>
          </p:cNvPr>
          <p:cNvSpPr/>
          <p:nvPr/>
        </p:nvSpPr>
        <p:spPr>
          <a:xfrm>
            <a:off x="8087201" y="1448967"/>
            <a:ext cx="3393400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Decision Intelligence Layer</a:t>
            </a:r>
            <a:endParaRPr lang="en-US" sz="22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B67112-E680-3C39-CFB0-CB536AB2EF0F}"/>
              </a:ext>
            </a:extLst>
          </p:cNvPr>
          <p:cNvSpPr/>
          <p:nvPr/>
        </p:nvSpPr>
        <p:spPr>
          <a:xfrm>
            <a:off x="8087201" y="1880449"/>
            <a:ext cx="3544361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latin typeface="Baskerville Old Face" panose="02020602080505020303" pitchFamily="18" charset="0"/>
                <a:ea typeface="Poppins" pitchFamily="34" charset="-122"/>
                <a:cs typeface="Poppins" pitchFamily="34" charset="-120"/>
              </a:rPr>
              <a:t>Strategy evaluation and decision controller produce prediction candidates—not final actions</a:t>
            </a:r>
            <a:endParaRPr lang="en-US" sz="1200" dirty="0">
              <a:latin typeface="Baskerville Old Face" panose="02020602080505020303" pitchFamily="18" charset="0"/>
            </a:endParaRP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B3C1E04C-F44F-46C1-163A-B794D498CD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0828" y="1398723"/>
            <a:ext cx="4731782" cy="4731782"/>
          </a:xfrm>
          <a:prstGeom prst="rect">
            <a:avLst/>
          </a:prstGeom>
        </p:spPr>
      </p:pic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68D7CC62-242B-E940-B8E0-BF0C39C85F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4361" y="2183642"/>
            <a:ext cx="234434" cy="234434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0ECD7E13-FA2A-2A27-7835-3C22F3438D03}"/>
              </a:ext>
            </a:extLst>
          </p:cNvPr>
          <p:cNvSpPr/>
          <p:nvPr/>
        </p:nvSpPr>
        <p:spPr>
          <a:xfrm>
            <a:off x="8499961" y="2944235"/>
            <a:ext cx="3642879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Confidence &amp; Explainability Layer</a:t>
            </a:r>
            <a:endParaRPr lang="en-US" sz="22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BF9A30AC-AC7B-6291-A615-C1A0DFCD2DBA}"/>
              </a:ext>
            </a:extLst>
          </p:cNvPr>
          <p:cNvSpPr/>
          <p:nvPr/>
        </p:nvSpPr>
        <p:spPr>
          <a:xfrm>
            <a:off x="8549121" y="3727785"/>
            <a:ext cx="3465899" cy="11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b="1" dirty="0">
                <a:latin typeface="Baskerville Old Face" panose="02020602080505020303" pitchFamily="18" charset="0"/>
                <a:ea typeface="Poppins" pitchFamily="34" charset="-122"/>
                <a:cs typeface="Times New Roman" panose="02020603050405020304" pitchFamily="18" charset="0"/>
              </a:rPr>
              <a:t>Explainability is the execution gate:</a:t>
            </a:r>
            <a:r>
              <a:rPr lang="en-US" dirty="0">
                <a:latin typeface="Baskerville Old Face" panose="02020602080505020303" pitchFamily="18" charset="0"/>
                <a:ea typeface="Poppins" pitchFamily="34" charset="-122"/>
                <a:cs typeface="Times New Roman" panose="02020603050405020304" pitchFamily="18" charset="0"/>
              </a:rPr>
              <a:t> Confidence assessment evaluates uncertainty and reliability, regime analysis monitors stability and volatility, explanation generator creates human-readable rationale</a:t>
            </a:r>
            <a:endParaRPr lang="en-US" dirty="0"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4" descr="preencoded.png">
            <a:extLst>
              <a:ext uri="{FF2B5EF4-FFF2-40B4-BE49-F238E27FC236}">
                <a16:creationId xmlns:a16="http://schemas.microsoft.com/office/drawing/2014/main" id="{0AFB82E9-EE67-C00D-6C3B-409C30F4A9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0828" y="1398723"/>
            <a:ext cx="4731782" cy="4731782"/>
          </a:xfrm>
          <a:prstGeom prst="rect">
            <a:avLst/>
          </a:prstGeom>
        </p:spPr>
      </p:pic>
      <p:pic>
        <p:nvPicPr>
          <p:cNvPr id="20" name="Image 5" descr="preencoded.png">
            <a:extLst>
              <a:ext uri="{FF2B5EF4-FFF2-40B4-BE49-F238E27FC236}">
                <a16:creationId xmlns:a16="http://schemas.microsoft.com/office/drawing/2014/main" id="{8C76E0A6-C98A-0163-C998-9AA74A9B8D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60896" y="3931956"/>
            <a:ext cx="234434" cy="234434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98302D04-65FF-6370-C07D-E0F0F201807B}"/>
              </a:ext>
            </a:extLst>
          </p:cNvPr>
          <p:cNvSpPr/>
          <p:nvPr/>
        </p:nvSpPr>
        <p:spPr>
          <a:xfrm>
            <a:off x="7988878" y="5229944"/>
            <a:ext cx="3462856" cy="26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User Layer</a:t>
            </a:r>
            <a:endParaRPr lang="en-US" sz="22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B8C267E-E3DF-5D06-B84E-CE0C3E0F0C02}"/>
              </a:ext>
            </a:extLst>
          </p:cNvPr>
          <p:cNvSpPr/>
          <p:nvPr/>
        </p:nvSpPr>
        <p:spPr>
          <a:xfrm>
            <a:off x="7674243" y="5582772"/>
            <a:ext cx="4517757" cy="518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Dashboard presents decision with confidence scores and explanation—users see both action and reasoning</a:t>
            </a:r>
            <a:endParaRPr lang="en-US" sz="1200" dirty="0"/>
          </a:p>
        </p:txBody>
      </p:sp>
      <p:pic>
        <p:nvPicPr>
          <p:cNvPr id="23" name="Image 6" descr="preencoded.png">
            <a:extLst>
              <a:ext uri="{FF2B5EF4-FFF2-40B4-BE49-F238E27FC236}">
                <a16:creationId xmlns:a16="http://schemas.microsoft.com/office/drawing/2014/main" id="{6EC66638-152F-4000-6B48-B4A071B0A3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0828" y="1398723"/>
            <a:ext cx="4731782" cy="4731782"/>
          </a:xfrm>
          <a:prstGeom prst="rect">
            <a:avLst/>
          </a:prstGeom>
        </p:spPr>
      </p:pic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6CDAE069-079C-BADB-A7B9-8384931B2F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62745" y="5286768"/>
            <a:ext cx="234434" cy="234434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DF2A36BE-1408-3EE7-D554-523DDD2059F0}"/>
              </a:ext>
            </a:extLst>
          </p:cNvPr>
          <p:cNvSpPr/>
          <p:nvPr/>
        </p:nvSpPr>
        <p:spPr>
          <a:xfrm>
            <a:off x="0" y="4560364"/>
            <a:ext cx="3819424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latin typeface="Baskerville"/>
                <a:ea typeface="Baskervville" pitchFamily="34" charset="-122"/>
                <a:cs typeface="Baskervville" pitchFamily="34" charset="-120"/>
              </a:rPr>
              <a:t>Monitoring &amp; Governance Layer</a:t>
            </a:r>
            <a:endParaRPr lang="en-US" sz="2200" dirty="0">
              <a:latin typeface="Baskerville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7F4A72D-3936-0653-F233-A5E64102A725}"/>
              </a:ext>
            </a:extLst>
          </p:cNvPr>
          <p:cNvSpPr/>
          <p:nvPr/>
        </p:nvSpPr>
        <p:spPr>
          <a:xfrm>
            <a:off x="-100091" y="4991847"/>
            <a:ext cx="3919516" cy="46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Audit, logging, and alert system ensure full traceability and compliance</a:t>
            </a:r>
            <a:endParaRPr lang="en-US" sz="1200" dirty="0"/>
          </a:p>
        </p:txBody>
      </p:sp>
      <p:pic>
        <p:nvPicPr>
          <p:cNvPr id="27" name="Image 8" descr="preencoded.png">
            <a:extLst>
              <a:ext uri="{FF2B5EF4-FFF2-40B4-BE49-F238E27FC236}">
                <a16:creationId xmlns:a16="http://schemas.microsoft.com/office/drawing/2014/main" id="{37505315-E49C-B394-8EA8-DFE4C15201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80828" y="1398723"/>
            <a:ext cx="4731782" cy="4731782"/>
          </a:xfrm>
          <a:prstGeom prst="rect">
            <a:avLst/>
          </a:prstGeom>
        </p:spPr>
      </p:pic>
      <p:pic>
        <p:nvPicPr>
          <p:cNvPr id="28" name="Image 9" descr="preencoded.png">
            <a:extLst>
              <a:ext uri="{FF2B5EF4-FFF2-40B4-BE49-F238E27FC236}">
                <a16:creationId xmlns:a16="http://schemas.microsoft.com/office/drawing/2014/main" id="{30087482-1D06-20EE-52EE-9FB368D3CF2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42173" y="4375821"/>
            <a:ext cx="234434" cy="234434"/>
          </a:xfrm>
          <a:prstGeom prst="rect">
            <a:avLst/>
          </a:prstGeom>
        </p:spPr>
      </p:pic>
      <p:pic>
        <p:nvPicPr>
          <p:cNvPr id="30" name="Image 10" descr="preencoded.png">
            <a:extLst>
              <a:ext uri="{FF2B5EF4-FFF2-40B4-BE49-F238E27FC236}">
                <a16:creationId xmlns:a16="http://schemas.microsoft.com/office/drawing/2014/main" id="{82AE63B0-692B-3B81-02C3-408ED7DE878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556368" y="6505789"/>
            <a:ext cx="195858" cy="156686"/>
          </a:xfrm>
          <a:prstGeom prst="rect">
            <a:avLst/>
          </a:prstGeom>
        </p:spPr>
      </p:pic>
      <p:sp>
        <p:nvSpPr>
          <p:cNvPr id="32" name="Google Shape;183;p8">
            <a:extLst>
              <a:ext uri="{FF2B5EF4-FFF2-40B4-BE49-F238E27FC236}">
                <a16:creationId xmlns:a16="http://schemas.microsoft.com/office/drawing/2014/main" id="{671E44C6-6E35-CC64-704A-84E9148C162E}"/>
              </a:ext>
            </a:extLst>
          </p:cNvPr>
          <p:cNvSpPr/>
          <p:nvPr/>
        </p:nvSpPr>
        <p:spPr>
          <a:xfrm>
            <a:off x="2741442" y="1227902"/>
            <a:ext cx="8349343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84;p8">
            <a:extLst>
              <a:ext uri="{FF2B5EF4-FFF2-40B4-BE49-F238E27FC236}">
                <a16:creationId xmlns:a16="http://schemas.microsoft.com/office/drawing/2014/main" id="{51B3BB7F-D807-EF59-292E-569ABAB811E5}"/>
              </a:ext>
            </a:extLst>
          </p:cNvPr>
          <p:cNvSpPr txBox="1"/>
          <p:nvPr/>
        </p:nvSpPr>
        <p:spPr>
          <a:xfrm>
            <a:off x="1380729" y="766202"/>
            <a:ext cx="9710056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r">
              <a:buClr>
                <a:schemeClr val="dk1"/>
              </a:buClr>
              <a:buSzPts val="2400"/>
            </a:pPr>
            <a:r>
              <a:rPr lang="en-US" sz="2400" dirty="0">
                <a:latin typeface="Trebuchet MS" panose="020B0603020202020204" pitchFamily="34" charset="0"/>
              </a:rPr>
              <a:t>Architecture</a:t>
            </a:r>
            <a:endParaRPr sz="2400" b="0" i="0" u="none" strike="noStrike" cap="none" dirty="0">
              <a:solidFill>
                <a:schemeClr val="dk1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0524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EE8F7ED6-60F7-2A56-7BE8-7B3E26AC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E3E4E9E6-CDA9-4599-73F1-29109C1C21E1}"/>
              </a:ext>
            </a:extLst>
          </p:cNvPr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55ACEEC1-B416-CF56-6756-0AC0E4BDECD8}"/>
              </a:ext>
            </a:extLst>
          </p:cNvPr>
          <p:cNvSpPr txBox="1"/>
          <p:nvPr/>
        </p:nvSpPr>
        <p:spPr>
          <a:xfrm>
            <a:off x="4604656" y="1143000"/>
            <a:ext cx="6063343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dirty="0">
                <a:solidFill>
                  <a:schemeClr val="dk1"/>
                </a:solidFill>
                <a:latin typeface="Trebuchet MS"/>
                <a:ea typeface="Calibri"/>
                <a:cs typeface="Calibri"/>
                <a:sym typeface="Trebuchet MS"/>
              </a:rPr>
              <a:t>Progress Update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8">
            <a:extLst>
              <a:ext uri="{FF2B5EF4-FFF2-40B4-BE49-F238E27FC236}">
                <a16:creationId xmlns:a16="http://schemas.microsoft.com/office/drawing/2014/main" id="{95DE430C-9D4D-0870-EFA5-39FE954E356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>
            <a:extLst>
              <a:ext uri="{FF2B5EF4-FFF2-40B4-BE49-F238E27FC236}">
                <a16:creationId xmlns:a16="http://schemas.microsoft.com/office/drawing/2014/main" id="{ABFD0AFB-2A18-614F-D56C-29C5EA600B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" name="Google Shape;121;p2">
            <a:extLst>
              <a:ext uri="{FF2B5EF4-FFF2-40B4-BE49-F238E27FC236}">
                <a16:creationId xmlns:a16="http://schemas.microsoft.com/office/drawing/2014/main" id="{58B95CA4-734F-5FC9-A099-24BD95A57B86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77E3D85D-568A-7C5E-51FB-F7DCA2950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ui capstone (online-video-cutter.com) (1)">
            <a:hlinkClick r:id="" action="ppaction://media"/>
            <a:extLst>
              <a:ext uri="{FF2B5EF4-FFF2-40B4-BE49-F238E27FC236}">
                <a16:creationId xmlns:a16="http://schemas.microsoft.com/office/drawing/2014/main" id="{F75DBC09-8503-CBEF-AC3D-AA4FAC0EAD0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06014" y="1617750"/>
            <a:ext cx="9490588" cy="469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9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9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797E79F-0032-5E6B-0425-BA515BC99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4788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76362" y="1138337"/>
            <a:ext cx="10982325" cy="499864"/>
          </a:xfrm>
          <a:prstGeom prst="rect">
            <a:avLst/>
          </a:prstGeom>
          <a:solidFill>
            <a:srgbClr val="FAFFFA"/>
          </a:solidFill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3917"/>
              </a:lnSpc>
              <a:buClrTx/>
            </a:pPr>
            <a:r>
              <a:rPr lang="en-US" sz="3125" b="1" kern="1200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Implementation Challenges &amp; Resource Requirements</a:t>
            </a:r>
            <a:endParaRPr lang="en-US" sz="312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6362" y="1976636"/>
            <a:ext cx="3371156" cy="299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2333"/>
              </a:lnSpc>
              <a:buClrTx/>
            </a:pPr>
            <a:r>
              <a:rPr lang="en-US" sz="1875" b="1" kern="1200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Implementation Challenges</a:t>
            </a:r>
            <a:endParaRPr lang="en-US" sz="187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6362" y="2411909"/>
            <a:ext cx="5324376" cy="3072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 defTabSz="761970">
              <a:lnSpc>
                <a:spcPts val="1833"/>
              </a:lnSpc>
              <a:buClrTx/>
              <a:buSzPct val="100000"/>
              <a:buFontTx/>
              <a:buChar char="•"/>
            </a:pPr>
            <a:r>
              <a:rPr lang="en-US" sz="1250" b="1" kern="1200" dirty="0">
                <a:solidFill>
                  <a:schemeClr val="tx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Computational overhead:</a:t>
            </a:r>
            <a:r>
              <a:rPr lang="en-US" sz="1250" kern="1200" dirty="0">
                <a:solidFill>
                  <a:schemeClr val="tx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Multimodal fusion and explainability layers significantly increase training and inference costs</a:t>
            </a:r>
            <a:endParaRPr lang="en-US" sz="125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  <a:p>
            <a:pPr marL="285739" indent="-285739" defTabSz="761970">
              <a:lnSpc>
                <a:spcPts val="1833"/>
              </a:lnSpc>
              <a:buClrTx/>
              <a:buSzPct val="100000"/>
              <a:buFontTx/>
              <a:buChar char="•"/>
            </a:pPr>
            <a:r>
              <a:rPr lang="en-US" sz="1250" b="1" kern="1200" dirty="0">
                <a:solidFill>
                  <a:schemeClr val="tx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Latency constraints:</a:t>
            </a:r>
            <a:r>
              <a:rPr lang="en-US" sz="1250" kern="1200" dirty="0">
                <a:solidFill>
                  <a:schemeClr val="tx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Real-time confidence estimation and explanation generation introduce measurable delays in prediction pipeline</a:t>
            </a:r>
            <a:endParaRPr lang="en-US" sz="125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  <a:p>
            <a:pPr marL="285739" indent="-285739" defTabSz="761970">
              <a:lnSpc>
                <a:spcPts val="1833"/>
              </a:lnSpc>
              <a:buClrTx/>
              <a:buSzPct val="100000"/>
              <a:buFontTx/>
              <a:buChar char="•"/>
            </a:pPr>
            <a:r>
              <a:rPr lang="en-US" sz="1250" b="1" kern="1200" dirty="0">
                <a:solidFill>
                  <a:schemeClr val="tx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Regime monitoring complexity:</a:t>
            </a:r>
            <a:r>
              <a:rPr lang="en-US" sz="1250" kern="1200" dirty="0">
                <a:solidFill>
                  <a:schemeClr val="tx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Adaptive market regime detection requires continuous monitoring and dynamic model switching logic</a:t>
            </a:r>
            <a:endParaRPr lang="en-US" sz="125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  <a:p>
            <a:pPr marL="285739" indent="-285739" defTabSz="761970">
              <a:lnSpc>
                <a:spcPts val="1833"/>
              </a:lnSpc>
              <a:buClrTx/>
              <a:buSzPct val="100000"/>
              <a:buFontTx/>
              <a:buChar char="•"/>
            </a:pPr>
            <a:r>
              <a:rPr lang="en-US" sz="1250" b="1" kern="1200" dirty="0">
                <a:solidFill>
                  <a:schemeClr val="tx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Modular integration:</a:t>
            </a:r>
            <a:r>
              <a:rPr lang="en-US" sz="1250" kern="1200" dirty="0">
                <a:solidFill>
                  <a:schemeClr val="tx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Coordinating data ingestion, feature engineering, prediction, and explanation modules presents architectural challenges</a:t>
            </a:r>
            <a:endParaRPr lang="en-US" sz="125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  <a:p>
            <a:pPr marL="285739" indent="-285739" defTabSz="761970">
              <a:lnSpc>
                <a:spcPts val="1833"/>
              </a:lnSpc>
              <a:buClrTx/>
              <a:buSzPct val="100000"/>
              <a:buFontTx/>
              <a:buChar char="•"/>
            </a:pPr>
            <a:r>
              <a:rPr lang="en-US" sz="1250" b="1" kern="1200" dirty="0">
                <a:solidFill>
                  <a:schemeClr val="tx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Hardware limitations:</a:t>
            </a:r>
            <a:r>
              <a:rPr lang="en-US" sz="1250" kern="1200" dirty="0">
                <a:solidFill>
                  <a:schemeClr val="tx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Deep learning models infeasible under CPU-only execution within project timeline</a:t>
            </a:r>
            <a:endParaRPr lang="en-US" sz="1250" kern="1200" dirty="0">
              <a:solidFill>
                <a:schemeClr val="tx1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182221" y="1841302"/>
            <a:ext cx="5554762" cy="3878362"/>
          </a:xfrm>
          <a:prstGeom prst="roundRect">
            <a:avLst>
              <a:gd name="adj" fmla="val 5940"/>
            </a:avLst>
          </a:prstGeom>
          <a:solidFill>
            <a:srgbClr val="ECDFE3"/>
          </a:solidFill>
          <a:ln/>
        </p:spPr>
      </p:sp>
      <p:sp>
        <p:nvSpPr>
          <p:cNvPr id="6" name="Text 4"/>
          <p:cNvSpPr/>
          <p:nvPr/>
        </p:nvSpPr>
        <p:spPr>
          <a:xfrm>
            <a:off x="6342162" y="1976636"/>
            <a:ext cx="3715048" cy="299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761970">
              <a:lnSpc>
                <a:spcPts val="2333"/>
              </a:lnSpc>
              <a:buClrTx/>
            </a:pPr>
            <a:r>
              <a:rPr lang="en-US" sz="1875" b="1" kern="1200" dirty="0"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Resource Requirements (GPU)</a:t>
            </a:r>
            <a:endParaRPr lang="en-US" sz="1875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42162" y="2411909"/>
            <a:ext cx="5234881" cy="2599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 defTabSz="761970">
              <a:lnSpc>
                <a:spcPts val="1833"/>
              </a:lnSpc>
              <a:buClrTx/>
              <a:buSzPct val="100000"/>
              <a:buFontTx/>
              <a:buChar char="•"/>
            </a:pPr>
            <a:r>
              <a:rPr lang="en-US" sz="1250" b="1" kern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Training efficiency:</a:t>
            </a:r>
            <a:r>
              <a:rPr lang="en-US" sz="1250" kern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 GPU acceleration essential for iterative model development and experimentation cycles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285739" indent="-285739" defTabSz="761970">
              <a:lnSpc>
                <a:spcPts val="1833"/>
              </a:lnSpc>
              <a:buClrTx/>
              <a:buSzPct val="100000"/>
              <a:buFontTx/>
              <a:buChar char="•"/>
            </a:pPr>
            <a:r>
              <a:rPr lang="en-US" sz="1250" b="1" kern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Hyperparameter optimization:</a:t>
            </a:r>
            <a:r>
              <a:rPr lang="en-US" sz="1250" kern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 Enables systematic tuning across multimodal architectures within academic semester constraints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285739" indent="-285739" defTabSz="761970">
              <a:lnSpc>
                <a:spcPts val="1833"/>
              </a:lnSpc>
              <a:buClrTx/>
              <a:buSzPct val="100000"/>
              <a:buFontTx/>
              <a:buChar char="•"/>
            </a:pPr>
            <a:r>
              <a:rPr lang="en-US" sz="1250" b="1" kern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Near real-time inference:</a:t>
            </a:r>
            <a:r>
              <a:rPr lang="en-US" sz="1250" kern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 Supports low-latency prediction with integrated explainability components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285739" indent="-285739" defTabSz="761970">
              <a:lnSpc>
                <a:spcPts val="1833"/>
              </a:lnSpc>
              <a:buClrTx/>
              <a:buSzPct val="100000"/>
              <a:buFontTx/>
              <a:buChar char="•"/>
            </a:pPr>
            <a:r>
              <a:rPr lang="en-US" sz="1250" b="1" kern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Scalability testing:</a:t>
            </a:r>
            <a:r>
              <a:rPr lang="en-US" sz="1250" kern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 Allows evaluation of system performance under varying data volumes and model complexities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  <a:p>
            <a:pPr marL="285739" indent="-285739" defTabSz="761970">
              <a:lnSpc>
                <a:spcPts val="1833"/>
              </a:lnSpc>
              <a:buClrTx/>
              <a:buSzPct val="100000"/>
              <a:buFontTx/>
              <a:buChar char="•"/>
            </a:pPr>
            <a:r>
              <a:rPr lang="en-US" sz="1250" b="1" kern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Reliability assurance:</a:t>
            </a:r>
            <a:r>
              <a:rPr lang="en-US" sz="1250" kern="1200" dirty="0">
                <a:latin typeface="Nobile" pitchFamily="34" charset="0"/>
                <a:ea typeface="Nobile" pitchFamily="34" charset="-122"/>
                <a:cs typeface="Nobile" pitchFamily="34" charset="-120"/>
              </a:rPr>
              <a:t> Facilitates comprehensive testing of confidence calibration and explanation quality metrics</a:t>
            </a:r>
            <a:endParaRPr lang="en-US" sz="12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68443d32f_0_0"/>
          <p:cNvSpPr/>
          <p:nvPr/>
        </p:nvSpPr>
        <p:spPr>
          <a:xfrm>
            <a:off x="3048000" y="1581151"/>
            <a:ext cx="7620000" cy="3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268443d32f_0_0"/>
          <p:cNvSpPr txBox="1"/>
          <p:nvPr/>
        </p:nvSpPr>
        <p:spPr>
          <a:xfrm>
            <a:off x="3374570" y="1143001"/>
            <a:ext cx="7293429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Plan for Phase 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g3268443d32f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268443d32f_0_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" name="Google Shape;121;p2">
            <a:extLst>
              <a:ext uri="{FF2B5EF4-FFF2-40B4-BE49-F238E27FC236}">
                <a16:creationId xmlns:a16="http://schemas.microsoft.com/office/drawing/2014/main" id="{48B09C17-04ED-01A7-C71D-219E1BCD837E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96;p3">
            <a:extLst>
              <a:ext uri="{FF2B5EF4-FFF2-40B4-BE49-F238E27FC236}">
                <a16:creationId xmlns:a16="http://schemas.microsoft.com/office/drawing/2014/main" id="{D41F8AED-DAFE-6D47-902D-9FC7428AB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D235E1-DBD0-4059-96A8-33B4EBE9C3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285" b="7670"/>
          <a:stretch>
            <a:fillRect/>
          </a:stretch>
        </p:blipFill>
        <p:spPr>
          <a:xfrm>
            <a:off x="952500" y="1674810"/>
            <a:ext cx="10287000" cy="46080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3842656" y="1143002"/>
            <a:ext cx="68253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" name="Google Shape;121;p2">
            <a:extLst>
              <a:ext uri="{FF2B5EF4-FFF2-40B4-BE49-F238E27FC236}">
                <a16:creationId xmlns:a16="http://schemas.microsoft.com/office/drawing/2014/main" id="{B8AA74DE-E805-CEB6-15BC-5935B5E21F30}"/>
              </a:ext>
            </a:extLst>
          </p:cNvPr>
          <p:cNvSpPr txBox="1"/>
          <p:nvPr/>
        </p:nvSpPr>
        <p:spPr>
          <a:xfrm>
            <a:off x="24674" y="104475"/>
            <a:ext cx="6662056" cy="3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888888"/>
              </a:buClr>
              <a:buSzPts val="1200"/>
            </a:pPr>
            <a: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Toward Trustworthy Stock Prediction : A Self-Aware Multimodal Quant AI Framework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FBA6F6E-F54A-49D2-1DB9-7C2127DA6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989" y="1757286"/>
            <a:ext cx="11266488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AutoNum type="arabicPeriod"/>
            </a:pP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V. 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Kosidphokin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 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Loedtrakunchai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Sinamnuaiphon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Kuptanon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“FinRL: Adaptive Model Selection for Reinforcement Learning in Stock Trading,” in Proc. 2025 IEEE 11th Int. Conf. Intelligent Data and Security (IDS), 2025.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I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Sattar, A. Sarwar, S. Gillani, M. Bukhari, S. Rho, and M. Faseeh, “A Novel RMS-Driven Deep Reinforcement Learning for Optimized Portfolio Management in Stock Trading,” IEEE Access, 2025.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I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Luo, S. Li, W. Liao, and R. Yan, “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MagicNet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Memory-Aware Graph Interactive Causal Network for Multivariate Stock Price Movement Prediction,” IEEE Trans. 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Data Eng., 2025.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I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 S, S. V. N, G. Brindha, and M. V. Karthikeyan, “Stock Market Analysis and Price Prediction,” in Proc. 2025 Int. Conf. Frontier Technologies and Solutions (ICFTS), 2025.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I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Z. Zuo and F. Yang, “Portfolio Research Based on LSTM Model,” in Proc. 2025 16th Int. Conf. E-Education, E-Business, E-Management and E-Learning (IC4E), 2025.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I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Sohan Avaneesh 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Guptha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Sri Surya Shobith Kamisetty, K Rupesh Venkata Sai Krishna, Bharathi Mohan G, 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Gundala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Pallavi, Prasanna Kumar R, "Sector-Wise Portfolio Risk Assessment: Monte Carlo Simulation of NIFTY 50 Stocks," 2025 International Conference on Advanced Computing Technologies (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ICoACT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2025 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I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Aparajita Biswal, Arunesh P. Singh, Homera Durani, Yashasvi Shah, "Intelligent stock price prediction: a data-driven forecasting system," Parul University International Conference on Engineering and Technology 2025 (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PiCET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2025), 2025.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I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Kaikai Liu, 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Peize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Lu, Hang Li, </a:t>
            </a:r>
            <a:r>
              <a:rPr lang="en-IN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Lingrui</a:t>
            </a:r>
            <a:r>
              <a:rPr lang="en-I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"Regression Prediction of US Stock Prices Based on RBF Neural Network," 2025 IEEE International Conference on Electronics, Energy Systems and Power Engineering (EESPE), 2025</a:t>
            </a:r>
          </a:p>
        </p:txBody>
      </p:sp>
      <p:sp>
        <p:nvSpPr>
          <p:cNvPr id="4" name="Google Shape;96;p3">
            <a:extLst>
              <a:ext uri="{FF2B5EF4-FFF2-40B4-BE49-F238E27FC236}">
                <a16:creationId xmlns:a16="http://schemas.microsoft.com/office/drawing/2014/main" id="{A67C9A56-D0BA-6E12-6322-09ED0E7AD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>
            <a:off x="1946787" y="3352800"/>
            <a:ext cx="493128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rebuchet MS"/>
              <a:buNone/>
            </a:pPr>
            <a:r>
              <a:rPr lang="en-US" sz="40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800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" name="Google Shape;96;p3">
            <a:extLst>
              <a:ext uri="{FF2B5EF4-FFF2-40B4-BE49-F238E27FC236}">
                <a16:creationId xmlns:a16="http://schemas.microsoft.com/office/drawing/2014/main" id="{5721B7D6-E563-86EE-9A9A-E135606E5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637" y="6547954"/>
            <a:ext cx="4022725" cy="276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Helvetica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Adishree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Gupta_Bhumika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Lokare_Bhavani</a:t>
            </a:r>
            <a:r>
              <a:rPr lang="en-US" alt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en-US" sz="12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S_Akshat</a:t>
            </a:r>
            <a:endParaRPr lang="en-US" alt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2657</Words>
  <Application>Microsoft Office PowerPoint</Application>
  <PresentationFormat>Widescreen</PresentationFormat>
  <Paragraphs>311</Paragraphs>
  <Slides>20</Slides>
  <Notes>18</Notes>
  <HiddenSlides>2</HiddenSlides>
  <MMClips>1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6" baseType="lpstr">
      <vt:lpstr>Arial</vt:lpstr>
      <vt:lpstr>Baskerville</vt:lpstr>
      <vt:lpstr>Baskerville Old Face</vt:lpstr>
      <vt:lpstr>Baskervville</vt:lpstr>
      <vt:lpstr>Calibri</vt:lpstr>
      <vt:lpstr>Fraunces Extra Bold</vt:lpstr>
      <vt:lpstr>Inter</vt:lpstr>
      <vt:lpstr>Inter Bold</vt:lpstr>
      <vt:lpstr>Nobile</vt:lpstr>
      <vt:lpstr>Noto Sans Symbols</vt:lpstr>
      <vt:lpstr>Poppins</vt:lpstr>
      <vt:lpstr>Roboto</vt:lpstr>
      <vt:lpstr>Times New Roman</vt:lpstr>
      <vt:lpstr>Trebuchet MS</vt:lpstr>
      <vt:lpstr>Retrospect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account</dc:creator>
  <cp:lastModifiedBy>ADISHREE GUPTA</cp:lastModifiedBy>
  <cp:revision>55</cp:revision>
  <dcterms:created xsi:type="dcterms:W3CDTF">2023-02-02T07:40:50Z</dcterms:created>
  <dcterms:modified xsi:type="dcterms:W3CDTF">2026-02-02T16:51:21Z</dcterms:modified>
</cp:coreProperties>
</file>